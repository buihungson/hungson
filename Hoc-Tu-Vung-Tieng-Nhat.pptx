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Consolas" panose="020B0609020204030204" pitchFamily="49" charset="0"/>
      <p:regular r:id="rId14"/>
      <p:bold r:id="rId15"/>
      <p:italic r:id="rId16"/>
      <p:boldItalic r:id="rId17"/>
    </p:embeddedFont>
    <p:embeddedFont>
      <p:font typeface="Inter" panose="020B0604020202020204" charset="0"/>
      <p:regular r:id="rId18"/>
    </p:embeddedFont>
  </p:embeddedFontLst>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1338" y="5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2814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860CC8-B1DA-E0EE-00C0-1EF97B2ECBB4}"/>
              </a:ext>
            </a:extLst>
          </p:cNvPr>
          <p:cNvSpPr/>
          <p:nvPr/>
        </p:nvSpPr>
        <p:spPr>
          <a:xfrm>
            <a:off x="-762000" y="-444500"/>
            <a:ext cx="16014700" cy="9042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ext 0"/>
          <p:cNvSpPr/>
          <p:nvPr/>
        </p:nvSpPr>
        <p:spPr>
          <a:xfrm>
            <a:off x="793790" y="2854643"/>
            <a:ext cx="6764179"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Học Từ Vựng Tiếng Nhật</a:t>
            </a:r>
            <a:endParaRPr lang="en-US" sz="4450" dirty="0"/>
          </a:p>
        </p:txBody>
      </p:sp>
      <p:sp>
        <p:nvSpPr>
          <p:cNvPr id="3" name="Text 1"/>
          <p:cNvSpPr/>
          <p:nvPr/>
        </p:nvSpPr>
        <p:spPr>
          <a:xfrm>
            <a:off x="793790" y="3903583"/>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Anki Clone</a:t>
            </a:r>
            <a:r>
              <a:rPr lang="en-US" sz="1750" dirty="0">
                <a:solidFill>
                  <a:srgbClr val="272525"/>
                </a:solidFill>
                <a:latin typeface="Inter" pitchFamily="34" charset="0"/>
                <a:ea typeface="Inter" pitchFamily="34" charset="-122"/>
                <a:cs typeface="Inter" pitchFamily="34" charset="-120"/>
              </a:rPr>
              <a:t> tích hợp Thuật toán Lặp lại Ngắt quãng (Spaced Repetition)</a:t>
            </a:r>
            <a:endParaRPr lang="en-US" sz="1750" dirty="0"/>
          </a:p>
        </p:txBody>
      </p:sp>
      <p:sp>
        <p:nvSpPr>
          <p:cNvPr id="4" name="Shape 2"/>
          <p:cNvSpPr/>
          <p:nvPr/>
        </p:nvSpPr>
        <p:spPr>
          <a:xfrm>
            <a:off x="763310" y="4491157"/>
            <a:ext cx="60960" cy="914281"/>
          </a:xfrm>
          <a:prstGeom prst="rect">
            <a:avLst/>
          </a:prstGeom>
          <a:solidFill>
            <a:srgbClr val="4950BC"/>
          </a:solidFill>
          <a:ln/>
        </p:spPr>
      </p:sp>
      <p:sp>
        <p:nvSpPr>
          <p:cNvPr id="5" name="Text 3"/>
          <p:cNvSpPr/>
          <p:nvPr/>
        </p:nvSpPr>
        <p:spPr>
          <a:xfrm>
            <a:off x="1081564" y="452163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Bùi Hùng Sơn</a:t>
            </a:r>
            <a:endParaRPr lang="en-US" sz="2200" dirty="0"/>
          </a:p>
        </p:txBody>
      </p:sp>
      <p:sp>
        <p:nvSpPr>
          <p:cNvPr id="6" name="Shape 4"/>
          <p:cNvSpPr/>
          <p:nvPr/>
        </p:nvSpPr>
        <p:spPr>
          <a:xfrm>
            <a:off x="7426404" y="4491157"/>
            <a:ext cx="60960" cy="914281"/>
          </a:xfrm>
          <a:prstGeom prst="rect">
            <a:avLst/>
          </a:prstGeom>
          <a:solidFill>
            <a:srgbClr val="4950BC"/>
          </a:solidFill>
          <a:ln/>
        </p:spPr>
      </p:sp>
      <p:sp>
        <p:nvSpPr>
          <p:cNvPr id="7" name="Text 5"/>
          <p:cNvSpPr/>
          <p:nvPr/>
        </p:nvSpPr>
        <p:spPr>
          <a:xfrm>
            <a:off x="7744658" y="4521637"/>
            <a:ext cx="2998827"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Giảng viên hướng dẫn</a:t>
            </a:r>
            <a:endParaRPr lang="en-US" sz="2200" dirty="0"/>
          </a:p>
        </p:txBody>
      </p:sp>
      <p:sp>
        <p:nvSpPr>
          <p:cNvPr id="8" name="Text 6"/>
          <p:cNvSpPr/>
          <p:nvPr/>
        </p:nvSpPr>
        <p:spPr>
          <a:xfrm>
            <a:off x="7744658" y="5012055"/>
            <a:ext cx="6091952"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Cô Huyền</a:t>
            </a:r>
            <a:endParaRPr lang="en-US" sz="1750" dirty="0"/>
          </a:p>
        </p:txBody>
      </p:sp>
      <p:sp>
        <p:nvSpPr>
          <p:cNvPr id="10" name="Text 3">
            <a:extLst>
              <a:ext uri="{FF2B5EF4-FFF2-40B4-BE49-F238E27FC236}">
                <a16:creationId xmlns:a16="http://schemas.microsoft.com/office/drawing/2014/main" id="{51DD403B-18AA-7230-1ABF-BD321214C2D8}"/>
              </a:ext>
            </a:extLst>
          </p:cNvPr>
          <p:cNvSpPr/>
          <p:nvPr/>
        </p:nvSpPr>
        <p:spPr>
          <a:xfrm>
            <a:off x="1081563" y="501634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B24DCVN087</a:t>
            </a:r>
          </a:p>
          <a:p>
            <a:pPr marL="0" indent="0" algn="l">
              <a:lnSpc>
                <a:spcPts val="2750"/>
              </a:lnSpc>
              <a:buNone/>
            </a:pPr>
            <a:endParaRPr lang="en-US" sz="2200" dirty="0"/>
          </a:p>
        </p:txBody>
      </p:sp>
      <p:pic>
        <p:nvPicPr>
          <p:cNvPr id="1026" name="Picture 2" descr="Spaced Repetition: Học từ vựng với phương pháp lặp lại ngắt quãng">
            <a:extLst>
              <a:ext uri="{FF2B5EF4-FFF2-40B4-BE49-F238E27FC236}">
                <a16:creationId xmlns:a16="http://schemas.microsoft.com/office/drawing/2014/main" id="{22540CF7-B7FE-0DD1-C383-CA52786600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4471" y="46394"/>
            <a:ext cx="6091952" cy="42571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9BC4D3-99C6-2810-7165-B86C4DC73596}"/>
              </a:ext>
            </a:extLst>
          </p:cNvPr>
          <p:cNvSpPr/>
          <p:nvPr/>
        </p:nvSpPr>
        <p:spPr>
          <a:xfrm>
            <a:off x="-431516" y="-400692"/>
            <a:ext cx="15354015" cy="87572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ext 0"/>
          <p:cNvSpPr/>
          <p:nvPr/>
        </p:nvSpPr>
        <p:spPr>
          <a:xfrm>
            <a:off x="793790" y="2358509"/>
            <a:ext cx="8563332"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Ý Tưởng &amp; Động Lực Thực Hiện</a:t>
            </a:r>
            <a:endParaRPr lang="en-US" sz="4450" dirty="0"/>
          </a:p>
        </p:txBody>
      </p:sp>
      <p:sp>
        <p:nvSpPr>
          <p:cNvPr id="3" name="Text 1"/>
          <p:cNvSpPr/>
          <p:nvPr/>
        </p:nvSpPr>
        <p:spPr>
          <a:xfrm>
            <a:off x="793790" y="363426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 Vấn đề cốt lõi</a:t>
            </a:r>
            <a:endParaRPr lang="en-US" sz="2200" dirty="0"/>
          </a:p>
        </p:txBody>
      </p:sp>
      <p:sp>
        <p:nvSpPr>
          <p:cNvPr id="4" name="Text 2"/>
          <p:cNvSpPr/>
          <p:nvPr/>
        </p:nvSpPr>
        <p:spPr>
          <a:xfrm>
            <a:off x="793790" y="4215408"/>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Người học tiếng Nhật đối mặt với lượng Kanji khổng lồ và </a:t>
            </a:r>
            <a:r>
              <a:rPr lang="en-US" sz="1750" b="1" dirty="0">
                <a:solidFill>
                  <a:srgbClr val="272525"/>
                </a:solidFill>
                <a:latin typeface="Inter" pitchFamily="34" charset="0"/>
                <a:ea typeface="Inter" pitchFamily="34" charset="-122"/>
                <a:cs typeface="Inter" pitchFamily="34" charset="-120"/>
              </a:rPr>
              <a:t>Đường cong quên lãng Ebbinghaus</a:t>
            </a:r>
            <a:r>
              <a:rPr lang="en-US" sz="1750" dirty="0">
                <a:solidFill>
                  <a:srgbClr val="272525"/>
                </a:solidFill>
                <a:latin typeface="Inter" pitchFamily="34" charset="0"/>
                <a:ea typeface="Inter" pitchFamily="34" charset="-122"/>
                <a:cs typeface="Inter" pitchFamily="34" charset="-120"/>
              </a:rPr>
              <a:t> — trí nhớ suy giảm theo hàm số mũ nếu không được ôn tập đúng lúc.</a:t>
            </a:r>
            <a:endParaRPr lang="en-US" sz="1750" dirty="0"/>
          </a:p>
        </p:txBody>
      </p:sp>
      <p:sp>
        <p:nvSpPr>
          <p:cNvPr id="5" name="Text 3"/>
          <p:cNvSpPr/>
          <p:nvPr/>
        </p:nvSpPr>
        <p:spPr>
          <a:xfrm>
            <a:off x="7599521" y="3634264"/>
            <a:ext cx="3305413"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 Giải pháp &amp; Tầm nhìn</a:t>
            </a:r>
            <a:endParaRPr lang="en-US" sz="2200" dirty="0"/>
          </a:p>
        </p:txBody>
      </p:sp>
      <p:sp>
        <p:nvSpPr>
          <p:cNvPr id="6" name="Text 4"/>
          <p:cNvSpPr/>
          <p:nvPr/>
        </p:nvSpPr>
        <p:spPr>
          <a:xfrm>
            <a:off x="7599521" y="4215408"/>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Áp dụng </a:t>
            </a:r>
            <a:r>
              <a:rPr lang="en-US" sz="1750" b="1" dirty="0">
                <a:solidFill>
                  <a:srgbClr val="272525"/>
                </a:solidFill>
                <a:latin typeface="Inter" pitchFamily="34" charset="0"/>
                <a:ea typeface="Inter" pitchFamily="34" charset="-122"/>
                <a:cs typeface="Inter" pitchFamily="34" charset="-120"/>
              </a:rPr>
              <a:t>Spaced Repetition</a:t>
            </a:r>
            <a:r>
              <a:rPr lang="en-US" sz="1750" dirty="0">
                <a:solidFill>
                  <a:srgbClr val="272525"/>
                </a:solidFill>
                <a:latin typeface="Inter" pitchFamily="34" charset="0"/>
                <a:ea typeface="Inter" pitchFamily="34" charset="-122"/>
                <a:cs typeface="Inter" pitchFamily="34" charset="-120"/>
              </a:rPr>
              <a:t> để can thiệp đúng thời điểm não bộ chuẩn bị quên. Mục tiêu xa hơn: xây dựng hệ sinh thái học tiếng Nhật toàn diện tích hợp từ điển Jdict và Minigame.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9D9590B-8473-B75F-DC83-F8EDE91C1A45}"/>
              </a:ext>
            </a:extLst>
          </p:cNvPr>
          <p:cNvSpPr/>
          <p:nvPr/>
        </p:nvSpPr>
        <p:spPr>
          <a:xfrm>
            <a:off x="-431516" y="-400692"/>
            <a:ext cx="15354015" cy="87572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Shape 0"/>
          <p:cNvSpPr/>
          <p:nvPr/>
        </p:nvSpPr>
        <p:spPr>
          <a:xfrm>
            <a:off x="793790" y="1389340"/>
            <a:ext cx="2253377" cy="426244"/>
          </a:xfrm>
          <a:prstGeom prst="roundRect">
            <a:avLst>
              <a:gd name="adj" fmla="val 17880"/>
            </a:avLst>
          </a:prstGeom>
          <a:solidFill>
            <a:srgbClr val="DADBF1"/>
          </a:solidFill>
          <a:ln/>
        </p:spPr>
      </p:sp>
      <p:sp>
        <p:nvSpPr>
          <p:cNvPr id="3" name="Text 1"/>
          <p:cNvSpPr/>
          <p:nvPr/>
        </p:nvSpPr>
        <p:spPr>
          <a:xfrm>
            <a:off x="929878" y="1457325"/>
            <a:ext cx="1981200"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THÀNH PHẦN CỐT LÕI</a:t>
            </a:r>
            <a:endParaRPr lang="en-US" sz="1400" dirty="0"/>
          </a:p>
        </p:txBody>
      </p:sp>
      <p:sp>
        <p:nvSpPr>
          <p:cNvPr id="4" name="Text 2"/>
          <p:cNvSpPr/>
          <p:nvPr/>
        </p:nvSpPr>
        <p:spPr>
          <a:xfrm>
            <a:off x="793790" y="1906310"/>
            <a:ext cx="948606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Thuật Toán SM-2 — SuperMemo 2</a:t>
            </a:r>
            <a:endParaRPr lang="en-US" sz="4450" dirty="0"/>
          </a:p>
        </p:txBody>
      </p:sp>
      <p:sp>
        <p:nvSpPr>
          <p:cNvPr id="5" name="Text 3"/>
          <p:cNvSpPr/>
          <p:nvPr/>
        </p:nvSpPr>
        <p:spPr>
          <a:xfrm>
            <a:off x="793790" y="295525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Được phát triển bởi </a:t>
            </a:r>
            <a:r>
              <a:rPr lang="en-US" sz="1750" b="1" dirty="0">
                <a:solidFill>
                  <a:srgbClr val="272525"/>
                </a:solidFill>
                <a:latin typeface="Inter" pitchFamily="34" charset="0"/>
                <a:ea typeface="Inter" pitchFamily="34" charset="-122"/>
                <a:cs typeface="Inter" pitchFamily="34" charset="-120"/>
              </a:rPr>
              <a:t>Piotr Woźniak (1987)</a:t>
            </a:r>
            <a:r>
              <a:rPr lang="en-US" sz="1750" dirty="0">
                <a:solidFill>
                  <a:srgbClr val="272525"/>
                </a:solidFill>
                <a:latin typeface="Inter" pitchFamily="34" charset="0"/>
                <a:ea typeface="Inter" pitchFamily="34" charset="-122"/>
                <a:cs typeface="Inter" pitchFamily="34" charset="-120"/>
              </a:rPr>
              <a:t> — nền tảng của các ứng dụng học ngôn ngữ hàng đầu thế giới như Anki, Duolingo.</a:t>
            </a:r>
            <a:endParaRPr lang="en-US" sz="1750" dirty="0"/>
          </a:p>
        </p:txBody>
      </p:sp>
      <p:sp>
        <p:nvSpPr>
          <p:cNvPr id="6" name="Shape 4"/>
          <p:cNvSpPr/>
          <p:nvPr/>
        </p:nvSpPr>
        <p:spPr>
          <a:xfrm>
            <a:off x="793790" y="3936206"/>
            <a:ext cx="4196358" cy="1685092"/>
          </a:xfrm>
          <a:prstGeom prst="roundRect">
            <a:avLst>
              <a:gd name="adj" fmla="val 5654"/>
            </a:avLst>
          </a:prstGeom>
          <a:solidFill>
            <a:srgbClr val="DADBF1"/>
          </a:solidFill>
          <a:ln w="7620">
            <a:solidFill>
              <a:srgbClr val="C0C1D7"/>
            </a:solidFill>
            <a:prstDash val="solid"/>
          </a:ln>
        </p:spPr>
      </p:sp>
      <p:sp>
        <p:nvSpPr>
          <p:cNvPr id="7" name="Text 5"/>
          <p:cNvSpPr/>
          <p:nvPr/>
        </p:nvSpPr>
        <p:spPr>
          <a:xfrm>
            <a:off x="1028224" y="417064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n — Repetitions</a:t>
            </a:r>
            <a:endParaRPr lang="en-US" sz="2200" dirty="0"/>
          </a:p>
        </p:txBody>
      </p:sp>
      <p:sp>
        <p:nvSpPr>
          <p:cNvPr id="8" name="Text 6"/>
          <p:cNvSpPr/>
          <p:nvPr/>
        </p:nvSpPr>
        <p:spPr>
          <a:xfrm>
            <a:off x="1028224" y="4661059"/>
            <a:ext cx="372749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Số lần nhớ thành công </a:t>
            </a:r>
            <a:r>
              <a:rPr lang="en-US" sz="1750" b="1" dirty="0">
                <a:solidFill>
                  <a:srgbClr val="272525"/>
                </a:solidFill>
                <a:latin typeface="Inter" pitchFamily="34" charset="0"/>
                <a:ea typeface="Inter" pitchFamily="34" charset="-122"/>
                <a:cs typeface="Inter" pitchFamily="34" charset="-120"/>
              </a:rPr>
              <a:t>liên tiếp</a:t>
            </a:r>
            <a:r>
              <a:rPr lang="en-US" sz="1750" dirty="0">
                <a:solidFill>
                  <a:srgbClr val="272525"/>
                </a:solidFill>
                <a:latin typeface="Inter" pitchFamily="34" charset="0"/>
                <a:ea typeface="Inter" pitchFamily="34" charset="-122"/>
                <a:cs typeface="Inter" pitchFamily="34" charset="-120"/>
              </a:rPr>
              <a:t> của thẻ.</a:t>
            </a:r>
            <a:endParaRPr lang="en-US" sz="1750" dirty="0"/>
          </a:p>
        </p:txBody>
      </p:sp>
      <p:sp>
        <p:nvSpPr>
          <p:cNvPr id="9" name="Shape 7"/>
          <p:cNvSpPr/>
          <p:nvPr/>
        </p:nvSpPr>
        <p:spPr>
          <a:xfrm>
            <a:off x="5216962" y="3936206"/>
            <a:ext cx="4196358" cy="1685092"/>
          </a:xfrm>
          <a:prstGeom prst="roundRect">
            <a:avLst>
              <a:gd name="adj" fmla="val 5654"/>
            </a:avLst>
          </a:prstGeom>
          <a:solidFill>
            <a:srgbClr val="DADBF1"/>
          </a:solidFill>
          <a:ln w="7620">
            <a:solidFill>
              <a:srgbClr val="C0C1D7"/>
            </a:solidFill>
            <a:prstDash val="solid"/>
          </a:ln>
        </p:spPr>
      </p:sp>
      <p:sp>
        <p:nvSpPr>
          <p:cNvPr id="10" name="Text 8"/>
          <p:cNvSpPr/>
          <p:nvPr/>
        </p:nvSpPr>
        <p:spPr>
          <a:xfrm>
            <a:off x="5451396" y="417064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I — Interval</a:t>
            </a:r>
            <a:endParaRPr lang="en-US" sz="2200" dirty="0"/>
          </a:p>
        </p:txBody>
      </p:sp>
      <p:sp>
        <p:nvSpPr>
          <p:cNvPr id="11" name="Text 9"/>
          <p:cNvSpPr/>
          <p:nvPr/>
        </p:nvSpPr>
        <p:spPr>
          <a:xfrm>
            <a:off x="5451396" y="4661059"/>
            <a:ext cx="372749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Khoảng cách (ngày) trước khi thẻ xuất hiện lại.</a:t>
            </a:r>
            <a:endParaRPr lang="en-US" sz="1750" dirty="0"/>
          </a:p>
        </p:txBody>
      </p:sp>
      <p:sp>
        <p:nvSpPr>
          <p:cNvPr id="12" name="Shape 10"/>
          <p:cNvSpPr/>
          <p:nvPr/>
        </p:nvSpPr>
        <p:spPr>
          <a:xfrm>
            <a:off x="9640133" y="3936206"/>
            <a:ext cx="4196358" cy="1685092"/>
          </a:xfrm>
          <a:prstGeom prst="roundRect">
            <a:avLst>
              <a:gd name="adj" fmla="val 5654"/>
            </a:avLst>
          </a:prstGeom>
          <a:solidFill>
            <a:srgbClr val="DADBF1"/>
          </a:solidFill>
          <a:ln w="7620">
            <a:solidFill>
              <a:srgbClr val="C0C1D7"/>
            </a:solidFill>
            <a:prstDash val="solid"/>
          </a:ln>
        </p:spPr>
      </p:sp>
      <p:sp>
        <p:nvSpPr>
          <p:cNvPr id="13" name="Text 11"/>
          <p:cNvSpPr/>
          <p:nvPr/>
        </p:nvSpPr>
        <p:spPr>
          <a:xfrm>
            <a:off x="9874568" y="417064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EF — Ease Factor</a:t>
            </a:r>
            <a:endParaRPr lang="en-US" sz="2200" dirty="0"/>
          </a:p>
        </p:txBody>
      </p:sp>
      <p:sp>
        <p:nvSpPr>
          <p:cNvPr id="14" name="Text 12"/>
          <p:cNvSpPr/>
          <p:nvPr/>
        </p:nvSpPr>
        <p:spPr>
          <a:xfrm>
            <a:off x="9874568" y="4661059"/>
            <a:ext cx="372749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"Bàn đạp ga" quyết định tốc độ giãn cách. Mặc định: </a:t>
            </a:r>
            <a:r>
              <a:rPr lang="en-US" sz="1750" b="1" dirty="0">
                <a:solidFill>
                  <a:srgbClr val="272525"/>
                </a:solidFill>
                <a:latin typeface="Inter" pitchFamily="34" charset="0"/>
                <a:ea typeface="Inter" pitchFamily="34" charset="-122"/>
                <a:cs typeface="Inter" pitchFamily="34" charset="-120"/>
              </a:rPr>
              <a:t>2.5</a:t>
            </a:r>
            <a:endParaRPr lang="en-US" sz="1750" dirty="0"/>
          </a:p>
        </p:txBody>
      </p:sp>
      <p:sp>
        <p:nvSpPr>
          <p:cNvPr id="15" name="Shape 13"/>
          <p:cNvSpPr/>
          <p:nvPr/>
        </p:nvSpPr>
        <p:spPr>
          <a:xfrm>
            <a:off x="793790" y="5876449"/>
            <a:ext cx="13042821" cy="963811"/>
          </a:xfrm>
          <a:prstGeom prst="roundRect">
            <a:avLst>
              <a:gd name="adj" fmla="val 9884"/>
            </a:avLst>
          </a:prstGeom>
          <a:solidFill>
            <a:srgbClr val="B6D6FC"/>
          </a:solidFill>
          <a:ln/>
        </p:spPr>
      </p:sp>
      <p:pic>
        <p:nvPicPr>
          <p:cNvPr id="16" name="Image 0" descr="preencoded.png"/>
          <p:cNvPicPr>
            <a:picLocks noChangeAspect="1"/>
          </p:cNvPicPr>
          <p:nvPr/>
        </p:nvPicPr>
        <p:blipFill>
          <a:blip r:embed="rId3"/>
          <a:stretch>
            <a:fillRect/>
          </a:stretch>
        </p:blipFill>
        <p:spPr>
          <a:xfrm>
            <a:off x="1020604" y="6220539"/>
            <a:ext cx="283488" cy="226814"/>
          </a:xfrm>
          <a:prstGeom prst="rect">
            <a:avLst/>
          </a:prstGeom>
        </p:spPr>
      </p:pic>
      <p:sp>
        <p:nvSpPr>
          <p:cNvPr id="17" name="Text 14"/>
          <p:cNvSpPr/>
          <p:nvPr/>
        </p:nvSpPr>
        <p:spPr>
          <a:xfrm>
            <a:off x="1530906" y="6159937"/>
            <a:ext cx="12078891"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Khi thẻ trưởng thành (n ≥ 3): </a:t>
            </a:r>
            <a:r>
              <a:rPr lang="en-US" sz="1750" b="1" dirty="0">
                <a:solidFill>
                  <a:srgbClr val="000000"/>
                </a:solidFill>
                <a:latin typeface="Inter" pitchFamily="34" charset="0"/>
                <a:ea typeface="Inter" pitchFamily="34" charset="-122"/>
                <a:cs typeface="Inter" pitchFamily="34" charset="-120"/>
              </a:rPr>
              <a:t>I_mới = I_cũ × EF</a:t>
            </a:r>
            <a:r>
              <a:rPr lang="en-US" sz="1750" dirty="0">
                <a:solidFill>
                  <a:srgbClr val="000000"/>
                </a:solidFill>
                <a:latin typeface="Inter" pitchFamily="34" charset="0"/>
                <a:ea typeface="Inter" pitchFamily="34" charset="-122"/>
                <a:cs typeface="Inter" pitchFamily="34" charset="-120"/>
              </a:rPr>
              <a:t> — công thức "lãi kép" cho trí nhớ dài hạn.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C5192FF-CD52-EC0A-5585-AA3F5C8B333B}"/>
              </a:ext>
            </a:extLst>
          </p:cNvPr>
          <p:cNvSpPr/>
          <p:nvPr/>
        </p:nvSpPr>
        <p:spPr>
          <a:xfrm>
            <a:off x="-431516" y="-400692"/>
            <a:ext cx="15354015" cy="87572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Shape 0"/>
          <p:cNvSpPr/>
          <p:nvPr/>
        </p:nvSpPr>
        <p:spPr>
          <a:xfrm>
            <a:off x="793790" y="1744861"/>
            <a:ext cx="2181582" cy="426244"/>
          </a:xfrm>
          <a:prstGeom prst="roundRect">
            <a:avLst>
              <a:gd name="adj" fmla="val 17880"/>
            </a:avLst>
          </a:prstGeom>
          <a:solidFill>
            <a:srgbClr val="DADBF1"/>
          </a:solidFill>
          <a:ln/>
        </p:spPr>
      </p:sp>
      <p:sp>
        <p:nvSpPr>
          <p:cNvPr id="3" name="Text 1"/>
          <p:cNvSpPr/>
          <p:nvPr/>
        </p:nvSpPr>
        <p:spPr>
          <a:xfrm>
            <a:off x="929878" y="1812846"/>
            <a:ext cx="1909405" cy="290274"/>
          </a:xfrm>
          <a:prstGeom prst="rect">
            <a:avLst/>
          </a:prstGeom>
          <a:noFill/>
          <a:ln/>
        </p:spPr>
        <p:txBody>
          <a:bodyPr wrap="none" lIns="0" tIns="0" rIns="0" bIns="0" rtlCol="0" anchor="t"/>
          <a:lstStyle/>
          <a:p>
            <a:pPr marL="0" indent="0" algn="l">
              <a:lnSpc>
                <a:spcPts val="2250"/>
              </a:lnSpc>
              <a:buNone/>
            </a:pPr>
            <a:r>
              <a:rPr lang="en-US" sz="1400" dirty="0">
                <a:solidFill>
                  <a:srgbClr val="272525"/>
                </a:solidFill>
                <a:latin typeface="Inter" pitchFamily="34" charset="0"/>
                <a:ea typeface="Inter" pitchFamily="34" charset="-122"/>
                <a:cs typeface="Inter" pitchFamily="34" charset="-120"/>
              </a:rPr>
              <a:t>TỐI ƯU HÓA THỰC TẾ</a:t>
            </a:r>
            <a:endParaRPr lang="en-US" sz="1400" dirty="0"/>
          </a:p>
        </p:txBody>
      </p:sp>
      <p:sp>
        <p:nvSpPr>
          <p:cNvPr id="4" name="Text 2"/>
          <p:cNvSpPr/>
          <p:nvPr/>
        </p:nvSpPr>
        <p:spPr>
          <a:xfrm>
            <a:off x="793790" y="2261830"/>
            <a:ext cx="9349026"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Cải Tiến Thuật Toán — Thực dụng</a:t>
            </a:r>
            <a:endParaRPr lang="en-US" sz="4450" dirty="0"/>
          </a:p>
        </p:txBody>
      </p:sp>
      <p:sp>
        <p:nvSpPr>
          <p:cNvPr id="5" name="Shape 3"/>
          <p:cNvSpPr/>
          <p:nvPr/>
        </p:nvSpPr>
        <p:spPr>
          <a:xfrm>
            <a:off x="793790" y="3310771"/>
            <a:ext cx="4196358" cy="3173849"/>
          </a:xfrm>
          <a:prstGeom prst="roundRect">
            <a:avLst>
              <a:gd name="adj" fmla="val 4610"/>
            </a:avLst>
          </a:prstGeom>
          <a:solidFill>
            <a:srgbClr val="FFFFFF"/>
          </a:solidFill>
          <a:ln w="30480">
            <a:solidFill>
              <a:srgbClr val="C0C1D7"/>
            </a:solidFill>
            <a:prstDash val="solid"/>
          </a:ln>
        </p:spPr>
      </p:sp>
      <p:sp>
        <p:nvSpPr>
          <p:cNvPr id="6" name="Shape 4"/>
          <p:cNvSpPr/>
          <p:nvPr/>
        </p:nvSpPr>
        <p:spPr>
          <a:xfrm>
            <a:off x="763310" y="3310771"/>
            <a:ext cx="121920" cy="3173849"/>
          </a:xfrm>
          <a:prstGeom prst="roundRect">
            <a:avLst>
              <a:gd name="adj" fmla="val 78139"/>
            </a:avLst>
          </a:prstGeom>
          <a:solidFill>
            <a:srgbClr val="4950BC"/>
          </a:solidFill>
          <a:ln/>
        </p:spPr>
      </p:sp>
      <p:sp>
        <p:nvSpPr>
          <p:cNvPr id="7" name="Text 5"/>
          <p:cNvSpPr/>
          <p:nvPr/>
        </p:nvSpPr>
        <p:spPr>
          <a:xfrm>
            <a:off x="1142524" y="3568065"/>
            <a:ext cx="3590330" cy="708660"/>
          </a:xfrm>
          <a:prstGeom prst="rect">
            <a:avLst/>
          </a:prstGeom>
          <a:noFill/>
          <a:ln/>
        </p:spPr>
        <p:txBody>
          <a:bodyPr wrap="squar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a:t>
            </a:r>
            <a:r>
              <a:rPr lang="en-US" sz="2200" b="1" dirty="0">
                <a:solidFill>
                  <a:srgbClr val="272525"/>
                </a:solidFill>
                <a:latin typeface="Inter Bold" pitchFamily="34" charset="0"/>
                <a:ea typeface="Inter Bold" pitchFamily="34" charset="-122"/>
                <a:cs typeface="Inter Bold" pitchFamily="34" charset="-120"/>
              </a:rPr>
              <a:t> Tối ưu UX — 4 nút thay vì 6 thang điểm</a:t>
            </a:r>
            <a:endParaRPr lang="en-US" sz="2200" dirty="0"/>
          </a:p>
        </p:txBody>
      </p:sp>
      <p:sp>
        <p:nvSpPr>
          <p:cNvPr id="8" name="Text 6"/>
          <p:cNvSpPr/>
          <p:nvPr/>
        </p:nvSpPr>
        <p:spPr>
          <a:xfrm>
            <a:off x="1142524" y="4412813"/>
            <a:ext cx="3590330"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SM-2 gốc yêu cầu chấm điểm 0–5. Ứng dụng rút gọn thành 4 nút trực quan: </a:t>
            </a:r>
            <a:r>
              <a:rPr lang="en-US" sz="1750" b="1" dirty="0">
                <a:solidFill>
                  <a:srgbClr val="272525"/>
                </a:solidFill>
                <a:latin typeface="Inter" pitchFamily="34" charset="0"/>
                <a:ea typeface="Inter" pitchFamily="34" charset="-122"/>
                <a:cs typeface="Inter" pitchFamily="34" charset="-120"/>
              </a:rPr>
              <a:t>Lại / Khó / Tốt / Dễ</a:t>
            </a:r>
            <a:r>
              <a:rPr lang="en-US" sz="1750" dirty="0">
                <a:solidFill>
                  <a:srgbClr val="272525"/>
                </a:solidFill>
                <a:latin typeface="Inter" pitchFamily="34" charset="0"/>
                <a:ea typeface="Inter" pitchFamily="34" charset="-122"/>
                <a:cs typeface="Inter" pitchFamily="34" charset="-120"/>
              </a:rPr>
              <a:t> giúp người dùng phản xạ nhanh hơn.</a:t>
            </a:r>
            <a:endParaRPr lang="en-US" sz="1750" dirty="0"/>
          </a:p>
        </p:txBody>
      </p:sp>
      <p:sp>
        <p:nvSpPr>
          <p:cNvPr id="9" name="Shape 7"/>
          <p:cNvSpPr/>
          <p:nvPr/>
        </p:nvSpPr>
        <p:spPr>
          <a:xfrm>
            <a:off x="5216962" y="3310771"/>
            <a:ext cx="4196358" cy="3173849"/>
          </a:xfrm>
          <a:prstGeom prst="roundRect">
            <a:avLst>
              <a:gd name="adj" fmla="val 4610"/>
            </a:avLst>
          </a:prstGeom>
          <a:solidFill>
            <a:srgbClr val="FFFFFF"/>
          </a:solidFill>
          <a:ln w="30480">
            <a:solidFill>
              <a:srgbClr val="C0C1D7"/>
            </a:solidFill>
            <a:prstDash val="solid"/>
          </a:ln>
        </p:spPr>
      </p:sp>
      <p:sp>
        <p:nvSpPr>
          <p:cNvPr id="10" name="Shape 8"/>
          <p:cNvSpPr/>
          <p:nvPr/>
        </p:nvSpPr>
        <p:spPr>
          <a:xfrm>
            <a:off x="5186482" y="3310771"/>
            <a:ext cx="121920" cy="3173849"/>
          </a:xfrm>
          <a:prstGeom prst="roundRect">
            <a:avLst>
              <a:gd name="adj" fmla="val 78139"/>
            </a:avLst>
          </a:prstGeom>
          <a:solidFill>
            <a:srgbClr val="4950BC"/>
          </a:solidFill>
          <a:ln/>
        </p:spPr>
      </p:sp>
      <p:sp>
        <p:nvSpPr>
          <p:cNvPr id="11" name="Text 9"/>
          <p:cNvSpPr/>
          <p:nvPr/>
        </p:nvSpPr>
        <p:spPr>
          <a:xfrm>
            <a:off x="5565696" y="3568065"/>
            <a:ext cx="3590330" cy="708660"/>
          </a:xfrm>
          <a:prstGeom prst="rect">
            <a:avLst/>
          </a:prstGeom>
          <a:noFill/>
          <a:ln/>
        </p:spPr>
        <p:txBody>
          <a:bodyPr wrap="squar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a:t>
            </a:r>
            <a:r>
              <a:rPr lang="en-US" sz="2200" b="1" dirty="0">
                <a:solidFill>
                  <a:srgbClr val="272525"/>
                </a:solidFill>
                <a:latin typeface="Inter Bold" pitchFamily="34" charset="0"/>
                <a:ea typeface="Inter Bold" pitchFamily="34" charset="-122"/>
                <a:cs typeface="Inter Bold" pitchFamily="34" charset="-120"/>
              </a:rPr>
              <a:t> Chống sai lệch — Lưu EF dạng số nguyên</a:t>
            </a:r>
            <a:endParaRPr lang="en-US" sz="2200" dirty="0"/>
          </a:p>
        </p:txBody>
      </p:sp>
      <p:sp>
        <p:nvSpPr>
          <p:cNvPr id="12" name="Text 10"/>
          <p:cNvSpPr/>
          <p:nvPr/>
        </p:nvSpPr>
        <p:spPr>
          <a:xfrm>
            <a:off x="5565696" y="4412813"/>
            <a:ext cx="3590330" cy="109632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Thay vì lưu EF = </a:t>
            </a:r>
            <a:r>
              <a:rPr lang="en-US" sz="1750" dirty="0">
                <a:solidFill>
                  <a:srgbClr val="272525"/>
                </a:solidFill>
                <a:highlight>
                  <a:srgbClr val="F2F2F2"/>
                </a:highlight>
                <a:latin typeface="Consolas" pitchFamily="34" charset="0"/>
                <a:ea typeface="Consolas" pitchFamily="34" charset="-122"/>
                <a:cs typeface="Consolas" pitchFamily="34" charset="-120"/>
              </a:rPr>
              <a:t>2.5</a:t>
            </a:r>
            <a:r>
              <a:rPr lang="en-US" sz="1750" dirty="0">
                <a:solidFill>
                  <a:srgbClr val="272525"/>
                </a:solidFill>
                <a:latin typeface="Inter" pitchFamily="34" charset="0"/>
                <a:ea typeface="Inter" pitchFamily="34" charset="-122"/>
                <a:cs typeface="Inter" pitchFamily="34" charset="-120"/>
              </a:rPr>
              <a:t>, lưu </a:t>
            </a:r>
            <a:r>
              <a:rPr lang="en-US" sz="1750" dirty="0">
                <a:solidFill>
                  <a:srgbClr val="272525"/>
                </a:solidFill>
                <a:highlight>
                  <a:srgbClr val="F2F2F2"/>
                </a:highlight>
                <a:latin typeface="Consolas" pitchFamily="34" charset="0"/>
                <a:ea typeface="Consolas" pitchFamily="34" charset="-122"/>
                <a:cs typeface="Consolas" pitchFamily="34" charset="-120"/>
              </a:rPr>
              <a:t>2500</a:t>
            </a:r>
            <a:r>
              <a:rPr lang="en-US" sz="1750" dirty="0">
                <a:solidFill>
                  <a:srgbClr val="272525"/>
                </a:solidFill>
                <a:latin typeface="Inter" pitchFamily="34" charset="0"/>
                <a:ea typeface="Inter" pitchFamily="34" charset="-122"/>
                <a:cs typeface="Inter" pitchFamily="34" charset="-120"/>
              </a:rPr>
              <a:t> (nhân 1000). Chia lại khi tính toán — đảm bảo khi đọc/ghi JSON.</a:t>
            </a:r>
            <a:endParaRPr lang="en-US" sz="1750" dirty="0"/>
          </a:p>
        </p:txBody>
      </p:sp>
      <p:sp>
        <p:nvSpPr>
          <p:cNvPr id="13" name="Shape 11"/>
          <p:cNvSpPr/>
          <p:nvPr/>
        </p:nvSpPr>
        <p:spPr>
          <a:xfrm>
            <a:off x="9640133" y="3310771"/>
            <a:ext cx="4196358" cy="3173849"/>
          </a:xfrm>
          <a:prstGeom prst="roundRect">
            <a:avLst>
              <a:gd name="adj" fmla="val 4610"/>
            </a:avLst>
          </a:prstGeom>
          <a:solidFill>
            <a:srgbClr val="FFFFFF"/>
          </a:solidFill>
          <a:ln w="30480">
            <a:solidFill>
              <a:srgbClr val="C0C1D7"/>
            </a:solidFill>
            <a:prstDash val="solid"/>
          </a:ln>
        </p:spPr>
      </p:sp>
      <p:sp>
        <p:nvSpPr>
          <p:cNvPr id="14" name="Shape 12"/>
          <p:cNvSpPr/>
          <p:nvPr/>
        </p:nvSpPr>
        <p:spPr>
          <a:xfrm>
            <a:off x="9609653" y="3310771"/>
            <a:ext cx="121920" cy="3173849"/>
          </a:xfrm>
          <a:prstGeom prst="roundRect">
            <a:avLst>
              <a:gd name="adj" fmla="val 78139"/>
            </a:avLst>
          </a:prstGeom>
          <a:solidFill>
            <a:srgbClr val="4950BC"/>
          </a:solidFill>
          <a:ln/>
        </p:spPr>
      </p:sp>
      <p:sp>
        <p:nvSpPr>
          <p:cNvPr id="15" name="Text 13"/>
          <p:cNvSpPr/>
          <p:nvPr/>
        </p:nvSpPr>
        <p:spPr>
          <a:xfrm>
            <a:off x="9988868" y="3568065"/>
            <a:ext cx="3590330" cy="708660"/>
          </a:xfrm>
          <a:prstGeom prst="rect">
            <a:avLst/>
          </a:prstGeom>
          <a:noFill/>
          <a:ln/>
        </p:spPr>
        <p:txBody>
          <a:bodyPr wrap="squar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a:t>
            </a:r>
            <a:r>
              <a:rPr lang="en-US" sz="2200" b="1" dirty="0">
                <a:solidFill>
                  <a:srgbClr val="272525"/>
                </a:solidFill>
                <a:latin typeface="Inter Bold" pitchFamily="34" charset="0"/>
                <a:ea typeface="Inter Bold" pitchFamily="34" charset="-122"/>
                <a:cs typeface="Inter Bold" pitchFamily="34" charset="-120"/>
              </a:rPr>
              <a:t> Hệ số Phạt/Thưởng bổ sung</a:t>
            </a:r>
            <a:endParaRPr lang="en-US" sz="2200" dirty="0"/>
          </a:p>
        </p:txBody>
      </p:sp>
      <p:sp>
        <p:nvSpPr>
          <p:cNvPr id="16" name="Text 14"/>
          <p:cNvSpPr/>
          <p:nvPr/>
        </p:nvSpPr>
        <p:spPr>
          <a:xfrm>
            <a:off x="9988868" y="4412813"/>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Thêm </a:t>
            </a:r>
            <a:r>
              <a:rPr lang="en-US" sz="1750" b="1" dirty="0">
                <a:solidFill>
                  <a:srgbClr val="272525"/>
                </a:solidFill>
                <a:latin typeface="Inter" pitchFamily="34" charset="0"/>
                <a:ea typeface="Inter" pitchFamily="34" charset="-122"/>
                <a:cs typeface="Inter" pitchFamily="34" charset="-120"/>
              </a:rPr>
              <a:t>Hard Multiplier ×1.2</a:t>
            </a:r>
            <a:r>
              <a:rPr lang="en-US" sz="1750" dirty="0">
                <a:solidFill>
                  <a:srgbClr val="272525"/>
                </a:solidFill>
                <a:latin typeface="Inter" pitchFamily="34" charset="0"/>
                <a:ea typeface="Inter" pitchFamily="34" charset="-122"/>
                <a:cs typeface="Inter" pitchFamily="34" charset="-120"/>
              </a:rPr>
              <a:t> (bấm "Khó") và </a:t>
            </a:r>
            <a:r>
              <a:rPr lang="en-US" sz="1750" b="1" dirty="0">
                <a:solidFill>
                  <a:srgbClr val="272525"/>
                </a:solidFill>
                <a:latin typeface="Inter" pitchFamily="34" charset="0"/>
                <a:ea typeface="Inter" pitchFamily="34" charset="-122"/>
                <a:cs typeface="Inter" pitchFamily="34" charset="-120"/>
              </a:rPr>
              <a:t>Easy Bonus ×1.3</a:t>
            </a:r>
            <a:r>
              <a:rPr lang="en-US" sz="1750" dirty="0">
                <a:solidFill>
                  <a:srgbClr val="272525"/>
                </a:solidFill>
                <a:latin typeface="Inter" pitchFamily="34" charset="0"/>
                <a:ea typeface="Inter" pitchFamily="34" charset="-122"/>
                <a:cs typeface="Inter" pitchFamily="34" charset="-120"/>
              </a:rPr>
              <a:t> (bấm "Dễ") — giúp thẻ phản ứng tự nhiên hơn với tâm lý học.</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D6743A6-82F5-E5D2-E67B-17B0DFAA3E64}"/>
              </a:ext>
            </a:extLst>
          </p:cNvPr>
          <p:cNvSpPr/>
          <p:nvPr/>
        </p:nvSpPr>
        <p:spPr>
          <a:xfrm>
            <a:off x="-431516" y="-400692"/>
            <a:ext cx="15354015" cy="87572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ext 0"/>
          <p:cNvSpPr/>
          <p:nvPr/>
        </p:nvSpPr>
        <p:spPr>
          <a:xfrm>
            <a:off x="793790" y="1789986"/>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Các biến số quản lý</a:t>
            </a:r>
            <a:endParaRPr lang="en-US" sz="4450" dirty="0"/>
          </a:p>
        </p:txBody>
      </p:sp>
      <p:sp>
        <p:nvSpPr>
          <p:cNvPr id="3" name="Text 1"/>
          <p:cNvSpPr/>
          <p:nvPr/>
        </p:nvSpPr>
        <p:spPr>
          <a:xfrm>
            <a:off x="793790" y="2952393"/>
            <a:ext cx="13042821" cy="171997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highlight>
                  <a:srgbClr val="F2F2F2"/>
                </a:highlight>
                <a:latin typeface="Consolas" pitchFamily="34" charset="0"/>
                <a:ea typeface="Consolas" pitchFamily="34" charset="-122"/>
                <a:cs typeface="Consolas" pitchFamily="34" charset="-120"/>
              </a:rPr>
              <a:t>type</a:t>
            </a:r>
            <a:r>
              <a:rPr lang="en-US" sz="1750" b="1" dirty="0">
                <a:solidFill>
                  <a:srgbClr val="272525"/>
                </a:solidFill>
                <a:latin typeface="Inter" pitchFamily="34" charset="0"/>
                <a:ea typeface="Inter" pitchFamily="34" charset="-122"/>
                <a:cs typeface="Inter" pitchFamily="34" charset="-120"/>
              </a:rPr>
              <a:t> (Trạng thái):</a:t>
            </a:r>
            <a:r>
              <a:rPr lang="en-US" sz="1750" dirty="0">
                <a:solidFill>
                  <a:srgbClr val="272525"/>
                </a:solidFill>
                <a:latin typeface="Inter" pitchFamily="34" charset="0"/>
                <a:ea typeface="Inter" pitchFamily="34" charset="-122"/>
                <a:cs typeface="Inter" pitchFamily="34" charset="-120"/>
              </a:rPr>
              <a:t> 0 (Mới), 1 (Đang học/Học lại), 2 (Nhớ).</a:t>
            </a:r>
            <a:endParaRPr lang="en-US" sz="1750" dirty="0"/>
          </a:p>
          <a:p>
            <a:pPr marL="342900" indent="-342900" algn="l">
              <a:lnSpc>
                <a:spcPts val="2850"/>
              </a:lnSpc>
              <a:buSzPct val="100000"/>
              <a:buChar char="•"/>
            </a:pPr>
            <a:r>
              <a:rPr lang="en-US" sz="1750" dirty="0">
                <a:solidFill>
                  <a:srgbClr val="272525"/>
                </a:solidFill>
                <a:highlight>
                  <a:srgbClr val="F2F2F2"/>
                </a:highlight>
                <a:latin typeface="Consolas" pitchFamily="34" charset="0"/>
                <a:ea typeface="Consolas" pitchFamily="34" charset="-122"/>
                <a:cs typeface="Consolas" pitchFamily="34" charset="-120"/>
              </a:rPr>
              <a:t>ivl</a:t>
            </a:r>
            <a:r>
              <a:rPr lang="en-US" sz="1750" b="1" dirty="0">
                <a:solidFill>
                  <a:srgbClr val="272525"/>
                </a:solidFill>
                <a:latin typeface="Inter" pitchFamily="34" charset="0"/>
                <a:ea typeface="Inter" pitchFamily="34" charset="-122"/>
                <a:cs typeface="Inter" pitchFamily="34" charset="-120"/>
              </a:rPr>
              <a:t> (Interval):</a:t>
            </a:r>
            <a:r>
              <a:rPr lang="en-US" sz="1750" dirty="0">
                <a:solidFill>
                  <a:srgbClr val="272525"/>
                </a:solidFill>
                <a:latin typeface="Inter" pitchFamily="34" charset="0"/>
                <a:ea typeface="Inter" pitchFamily="34" charset="-122"/>
                <a:cs typeface="Inter" pitchFamily="34" charset="-120"/>
              </a:rPr>
              <a:t> Khoảng cách ngày đến lần ôn tập tiếp theo.</a:t>
            </a:r>
            <a:endParaRPr lang="en-US" sz="1750" dirty="0"/>
          </a:p>
          <a:p>
            <a:pPr marL="342900" indent="-342900" algn="l">
              <a:lnSpc>
                <a:spcPts val="2850"/>
              </a:lnSpc>
              <a:buSzPct val="100000"/>
              <a:buChar char="•"/>
            </a:pPr>
            <a:r>
              <a:rPr lang="en-US" sz="1750" dirty="0">
                <a:solidFill>
                  <a:srgbClr val="272525"/>
                </a:solidFill>
                <a:highlight>
                  <a:srgbClr val="F2F2F2"/>
                </a:highlight>
                <a:latin typeface="Consolas" pitchFamily="34" charset="0"/>
                <a:ea typeface="Consolas" pitchFamily="34" charset="-122"/>
                <a:cs typeface="Consolas" pitchFamily="34" charset="-120"/>
              </a:rPr>
              <a:t>factor</a:t>
            </a:r>
            <a:r>
              <a:rPr lang="en-US" sz="1750" b="1" dirty="0">
                <a:solidFill>
                  <a:srgbClr val="272525"/>
                </a:solidFill>
                <a:latin typeface="Inter" pitchFamily="34" charset="0"/>
                <a:ea typeface="Inter" pitchFamily="34" charset="-122"/>
                <a:cs typeface="Inter" pitchFamily="34" charset="-120"/>
              </a:rPr>
              <a:t> (Ease Factor):</a:t>
            </a:r>
            <a:r>
              <a:rPr lang="en-US" sz="1750" dirty="0">
                <a:solidFill>
                  <a:srgbClr val="272525"/>
                </a:solidFill>
                <a:latin typeface="Inter" pitchFamily="34" charset="0"/>
                <a:ea typeface="Inter" pitchFamily="34" charset="-122"/>
                <a:cs typeface="Inter" pitchFamily="34" charset="-120"/>
              </a:rPr>
              <a:t> Độ "uy tín" của thẻ. Hệ số này quyết định tốc độ giãn cách ngày (mặc định 2.5).</a:t>
            </a:r>
            <a:endParaRPr lang="en-US" sz="1750" dirty="0"/>
          </a:p>
          <a:p>
            <a:pPr marL="342900" indent="-342900" algn="l">
              <a:lnSpc>
                <a:spcPts val="2850"/>
              </a:lnSpc>
              <a:buSzPct val="100000"/>
              <a:buChar char="•"/>
            </a:pPr>
            <a:r>
              <a:rPr lang="en-US" sz="1750" dirty="0">
                <a:solidFill>
                  <a:srgbClr val="272525"/>
                </a:solidFill>
                <a:highlight>
                  <a:srgbClr val="F2F2F2"/>
                </a:highlight>
                <a:latin typeface="Consolas" pitchFamily="34" charset="0"/>
                <a:ea typeface="Consolas" pitchFamily="34" charset="-122"/>
                <a:cs typeface="Consolas" pitchFamily="34" charset="-120"/>
              </a:rPr>
              <a:t>due</a:t>
            </a:r>
            <a:r>
              <a:rPr lang="en-US" sz="1750" b="1" dirty="0">
                <a:solidFill>
                  <a:srgbClr val="272525"/>
                </a:solidFill>
                <a:latin typeface="Inter" pitchFamily="34" charset="0"/>
                <a:ea typeface="Inter" pitchFamily="34" charset="-122"/>
                <a:cs typeface="Inter" pitchFamily="34" charset="-120"/>
              </a:rPr>
              <a:t> (Due Date):</a:t>
            </a:r>
            <a:r>
              <a:rPr lang="en-US" sz="1750" dirty="0">
                <a:solidFill>
                  <a:srgbClr val="272525"/>
                </a:solidFill>
                <a:latin typeface="Inter" pitchFamily="34" charset="0"/>
                <a:ea typeface="Inter" pitchFamily="34" charset="-122"/>
                <a:cs typeface="Inter" pitchFamily="34" charset="-120"/>
              </a:rPr>
              <a:t> Ngày đáo hạn, lưu dưới dạng số nguyên.</a:t>
            </a:r>
            <a:endParaRPr lang="en-US" sz="1750" dirty="0"/>
          </a:p>
        </p:txBody>
      </p:sp>
      <p:sp>
        <p:nvSpPr>
          <p:cNvPr id="4" name="Text 2"/>
          <p:cNvSpPr/>
          <p:nvPr/>
        </p:nvSpPr>
        <p:spPr>
          <a:xfrm>
            <a:off x="793790" y="5131594"/>
            <a:ext cx="2845594" cy="1103948"/>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Nút Lại (q=1):</a:t>
            </a:r>
            <a:r>
              <a:rPr lang="en-US" sz="1750" dirty="0">
                <a:solidFill>
                  <a:srgbClr val="272525"/>
                </a:solidFill>
                <a:latin typeface="Inter" pitchFamily="34" charset="0"/>
                <a:ea typeface="Inter" pitchFamily="34" charset="-122"/>
                <a:cs typeface="Inter" pitchFamily="34" charset="-120"/>
              </a:rPr>
              <a:t> Phạt nặng. I new = 1 ngày, </a:t>
            </a:r>
            <a:r>
              <a:rPr lang="en-US" sz="1750" dirty="0">
                <a:solidFill>
                  <a:srgbClr val="272525"/>
                </a:solidFill>
                <a:highlight>
                  <a:srgbClr val="F2F2F2"/>
                </a:highlight>
                <a:latin typeface="Consolas" pitchFamily="34" charset="0"/>
                <a:ea typeface="Consolas" pitchFamily="34" charset="-122"/>
                <a:cs typeface="Consolas" pitchFamily="34" charset="-120"/>
              </a:rPr>
              <a:t>type</a:t>
            </a:r>
            <a:r>
              <a:rPr lang="en-US" sz="1750" dirty="0">
                <a:solidFill>
                  <a:srgbClr val="272525"/>
                </a:solidFill>
                <a:latin typeface="Inter" pitchFamily="34" charset="0"/>
                <a:ea typeface="Inter" pitchFamily="34" charset="-122"/>
                <a:cs typeface="Inter" pitchFamily="34" charset="-120"/>
              </a:rPr>
              <a:t> quay về 1, giảm 200 </a:t>
            </a:r>
            <a:r>
              <a:rPr lang="en-US" sz="1750" dirty="0">
                <a:solidFill>
                  <a:srgbClr val="272525"/>
                </a:solidFill>
                <a:highlight>
                  <a:srgbClr val="F2F2F2"/>
                </a:highlight>
                <a:latin typeface="Consolas" pitchFamily="34" charset="0"/>
                <a:ea typeface="Consolas" pitchFamily="34" charset="-122"/>
                <a:cs typeface="Consolas" pitchFamily="34" charset="-120"/>
              </a:rPr>
              <a:t>factor</a:t>
            </a:r>
            <a:r>
              <a:rPr lang="en-US" sz="1750" dirty="0">
                <a:solidFill>
                  <a:srgbClr val="272525"/>
                </a:solidFill>
                <a:latin typeface="Inter" pitchFamily="34" charset="0"/>
                <a:ea typeface="Inter" pitchFamily="34" charset="-122"/>
                <a:cs typeface="Inter" pitchFamily="34" charset="-120"/>
              </a:rPr>
              <a:t>.</a:t>
            </a:r>
            <a:endParaRPr lang="en-US" sz="1750" dirty="0"/>
          </a:p>
        </p:txBody>
      </p:sp>
      <p:sp>
        <p:nvSpPr>
          <p:cNvPr id="5" name="Text 3"/>
          <p:cNvSpPr/>
          <p:nvPr/>
        </p:nvSpPr>
        <p:spPr>
          <a:xfrm>
            <a:off x="4200406" y="5131594"/>
            <a:ext cx="2845594" cy="1096328"/>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Nút Khó (q=2):</a:t>
            </a:r>
            <a:r>
              <a:rPr lang="en-US" sz="1750" dirty="0">
                <a:solidFill>
                  <a:srgbClr val="272525"/>
                </a:solidFill>
                <a:latin typeface="Inter" pitchFamily="34" charset="0"/>
                <a:ea typeface="Inter" pitchFamily="34" charset="-122"/>
                <a:cs typeface="Inter" pitchFamily="34" charset="-120"/>
              </a:rPr>
              <a:t> Giãn cách nhẹ. I_new = I_old x 1.2, giảm 150 </a:t>
            </a:r>
            <a:r>
              <a:rPr lang="en-US" sz="1750" dirty="0">
                <a:solidFill>
                  <a:srgbClr val="272525"/>
                </a:solidFill>
                <a:highlight>
                  <a:srgbClr val="F2F2F2"/>
                </a:highlight>
                <a:latin typeface="Consolas" pitchFamily="34" charset="0"/>
                <a:ea typeface="Consolas" pitchFamily="34" charset="-122"/>
                <a:cs typeface="Consolas" pitchFamily="34" charset="-120"/>
              </a:rPr>
              <a:t>factor</a:t>
            </a:r>
            <a:r>
              <a:rPr lang="en-US" sz="1750" dirty="0">
                <a:solidFill>
                  <a:srgbClr val="272525"/>
                </a:solidFill>
                <a:latin typeface="Inter" pitchFamily="34" charset="0"/>
                <a:ea typeface="Inter" pitchFamily="34" charset="-122"/>
                <a:cs typeface="Inter" pitchFamily="34" charset="-120"/>
              </a:rPr>
              <a:t>.</a:t>
            </a:r>
            <a:endParaRPr lang="en-US" sz="1750" dirty="0"/>
          </a:p>
        </p:txBody>
      </p:sp>
      <p:sp>
        <p:nvSpPr>
          <p:cNvPr id="6" name="Text 4"/>
          <p:cNvSpPr/>
          <p:nvPr/>
        </p:nvSpPr>
        <p:spPr>
          <a:xfrm>
            <a:off x="7607022" y="5131594"/>
            <a:ext cx="2845594" cy="1096328"/>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Nút Tốt (q=3):</a:t>
            </a:r>
            <a:r>
              <a:rPr lang="en-US" sz="1750" dirty="0">
                <a:solidFill>
                  <a:srgbClr val="272525"/>
                </a:solidFill>
                <a:latin typeface="Inter" pitchFamily="34" charset="0"/>
                <a:ea typeface="Inter" pitchFamily="34" charset="-122"/>
                <a:cs typeface="Inter" pitchFamily="34" charset="-120"/>
              </a:rPr>
              <a:t> Giãn cách tiêu chuẩn. I_new = I_old x </a:t>
            </a:r>
            <a:r>
              <a:rPr lang="en-US" sz="1750" dirty="0">
                <a:solidFill>
                  <a:srgbClr val="272525"/>
                </a:solidFill>
                <a:highlight>
                  <a:srgbClr val="F2F2F2"/>
                </a:highlight>
                <a:latin typeface="Consolas" pitchFamily="34" charset="0"/>
                <a:ea typeface="Consolas" pitchFamily="34" charset="-122"/>
                <a:cs typeface="Consolas" pitchFamily="34" charset="-120"/>
              </a:rPr>
              <a:t>factor</a:t>
            </a:r>
            <a:r>
              <a:rPr lang="en-US" sz="1750" dirty="0">
                <a:solidFill>
                  <a:srgbClr val="272525"/>
                </a:solidFill>
                <a:latin typeface="Inter" pitchFamily="34" charset="0"/>
                <a:ea typeface="Inter" pitchFamily="34" charset="-122"/>
                <a:cs typeface="Inter" pitchFamily="34" charset="-120"/>
              </a:rPr>
              <a:t>.</a:t>
            </a:r>
            <a:endParaRPr lang="en-US" sz="1750" dirty="0"/>
          </a:p>
        </p:txBody>
      </p:sp>
      <p:sp>
        <p:nvSpPr>
          <p:cNvPr id="7" name="Text 5"/>
          <p:cNvSpPr/>
          <p:nvPr/>
        </p:nvSpPr>
        <p:spPr>
          <a:xfrm>
            <a:off x="11013638" y="5131594"/>
            <a:ext cx="2845594" cy="1096328"/>
          </a:xfrm>
          <a:prstGeom prst="rect">
            <a:avLst/>
          </a:prstGeom>
          <a:noFill/>
          <a:ln/>
        </p:spPr>
        <p:txBody>
          <a:bodyPr wrap="squar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Nút Dễ (q=4):</a:t>
            </a:r>
            <a:r>
              <a:rPr lang="en-US" sz="1750" dirty="0">
                <a:solidFill>
                  <a:srgbClr val="272525"/>
                </a:solidFill>
                <a:latin typeface="Inter" pitchFamily="34" charset="0"/>
                <a:ea typeface="Inter" pitchFamily="34" charset="-122"/>
                <a:cs typeface="Inter" pitchFamily="34" charset="-120"/>
              </a:rPr>
              <a:t> Nhảy vọt. I_new = I_old x Factor x 1.3.  cộng 150 </a:t>
            </a:r>
            <a:r>
              <a:rPr lang="en-US" sz="1750" dirty="0">
                <a:solidFill>
                  <a:srgbClr val="272525"/>
                </a:solidFill>
                <a:highlight>
                  <a:srgbClr val="F2F2F2"/>
                </a:highlight>
                <a:latin typeface="Consolas" pitchFamily="34" charset="0"/>
                <a:ea typeface="Consolas" pitchFamily="34" charset="-122"/>
                <a:cs typeface="Consolas" pitchFamily="34" charset="-120"/>
              </a:rPr>
              <a:t>factor</a:t>
            </a:r>
            <a:r>
              <a:rPr lang="en-US" sz="1750" dirty="0">
                <a:solidFill>
                  <a:srgbClr val="272525"/>
                </a:solidFill>
                <a:latin typeface="Inter" pitchFamily="34" charset="0"/>
                <a:ea typeface="Inter" pitchFamily="34" charset="-122"/>
                <a:cs typeface="Inter" pitchFamily="34" charset="-120"/>
              </a:rPr>
              <a: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34AEC0-8CB3-E0B9-CE5A-972528D6FDC6}"/>
              </a:ext>
            </a:extLst>
          </p:cNvPr>
          <p:cNvSpPr/>
          <p:nvPr/>
        </p:nvSpPr>
        <p:spPr>
          <a:xfrm>
            <a:off x="-431516" y="-400692"/>
            <a:ext cx="15354015" cy="87572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ext 0"/>
          <p:cNvSpPr/>
          <p:nvPr/>
        </p:nvSpPr>
        <p:spPr>
          <a:xfrm>
            <a:off x="793790" y="2086689"/>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Công Nghệ Sử Dụng</a:t>
            </a:r>
            <a:endParaRPr lang="en-US" sz="44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3249097"/>
            <a:ext cx="566976" cy="566976"/>
          </a:xfrm>
          <a:prstGeom prst="rect">
            <a:avLst/>
          </a:prstGeom>
        </p:spPr>
      </p:pic>
      <p:sp>
        <p:nvSpPr>
          <p:cNvPr id="4" name="Text 1"/>
          <p:cNvSpPr/>
          <p:nvPr/>
        </p:nvSpPr>
        <p:spPr>
          <a:xfrm>
            <a:off x="1644253" y="324909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Python 3</a:t>
            </a:r>
            <a:endParaRPr lang="en-US" sz="2200" dirty="0"/>
          </a:p>
        </p:txBody>
      </p:sp>
      <p:sp>
        <p:nvSpPr>
          <p:cNvPr id="5" name="Text 2"/>
          <p:cNvSpPr/>
          <p:nvPr/>
        </p:nvSpPr>
        <p:spPr>
          <a:xfrm>
            <a:off x="1644253" y="3739515"/>
            <a:ext cx="5529143"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Ngôn ngữ lập trình chính — OOP, File I/O, xử lý JSON.</a:t>
            </a:r>
            <a:endParaRPr lang="en-US" sz="17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56884" y="3249097"/>
            <a:ext cx="566976" cy="566976"/>
          </a:xfrm>
          <a:prstGeom prst="rect">
            <a:avLst/>
          </a:prstGeom>
        </p:spPr>
      </p:pic>
      <p:sp>
        <p:nvSpPr>
          <p:cNvPr id="7" name="Text 3"/>
          <p:cNvSpPr/>
          <p:nvPr/>
        </p:nvSpPr>
        <p:spPr>
          <a:xfrm>
            <a:off x="8307348" y="324909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PyQt5 + Qt Designer</a:t>
            </a:r>
            <a:endParaRPr lang="en-US" sz="2200" dirty="0"/>
          </a:p>
        </p:txBody>
      </p:sp>
      <p:sp>
        <p:nvSpPr>
          <p:cNvPr id="8" name="Text 4"/>
          <p:cNvSpPr/>
          <p:nvPr/>
        </p:nvSpPr>
        <p:spPr>
          <a:xfrm>
            <a:off x="8307348" y="3739515"/>
            <a:ext cx="5529263" cy="73342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GUI với file </a:t>
            </a:r>
            <a:r>
              <a:rPr lang="en-US" sz="1750" dirty="0">
                <a:solidFill>
                  <a:srgbClr val="272525"/>
                </a:solidFill>
                <a:highlight>
                  <a:srgbClr val="F2F2F2"/>
                </a:highlight>
                <a:latin typeface="Consolas" pitchFamily="34" charset="0"/>
                <a:ea typeface="Consolas" pitchFamily="34" charset="-122"/>
                <a:cs typeface="Consolas" pitchFamily="34" charset="-120"/>
              </a:rPr>
              <a:t>.ui</a:t>
            </a:r>
            <a:r>
              <a:rPr lang="en-US" sz="1750" dirty="0">
                <a:solidFill>
                  <a:srgbClr val="272525"/>
                </a:solidFill>
                <a:latin typeface="Inter" pitchFamily="34" charset="0"/>
                <a:ea typeface="Inter" pitchFamily="34" charset="-122"/>
                <a:cs typeface="Inter" pitchFamily="34" charset="-120"/>
              </a:rPr>
              <a:t> tách biệt code. QSS tạo hiệu ứng bo góc, hover.</a:t>
            </a:r>
            <a:endParaRPr lang="en-US" sz="17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3790" y="4926568"/>
            <a:ext cx="566976" cy="566976"/>
          </a:xfrm>
          <a:prstGeom prst="rect">
            <a:avLst/>
          </a:prstGeom>
        </p:spPr>
      </p:pic>
      <p:sp>
        <p:nvSpPr>
          <p:cNvPr id="10" name="Text 5"/>
          <p:cNvSpPr/>
          <p:nvPr/>
        </p:nvSpPr>
        <p:spPr>
          <a:xfrm>
            <a:off x="1644253" y="492656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JSON Database</a:t>
            </a:r>
            <a:endParaRPr lang="en-US" sz="2200" dirty="0"/>
          </a:p>
        </p:txBody>
      </p:sp>
      <p:sp>
        <p:nvSpPr>
          <p:cNvPr id="11" name="Text 6"/>
          <p:cNvSpPr/>
          <p:nvPr/>
        </p:nvSpPr>
        <p:spPr>
          <a:xfrm>
            <a:off x="1644253" y="5416987"/>
            <a:ext cx="5529143"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Chuyển từ SQLite sang JSON — dễ debug, phù hợp quy mô hiện tại.</a:t>
            </a:r>
            <a:endParaRPr lang="en-US" sz="17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56884" y="4926568"/>
            <a:ext cx="566976" cy="566976"/>
          </a:xfrm>
          <a:prstGeom prst="rect">
            <a:avLst/>
          </a:prstGeom>
        </p:spPr>
      </p:pic>
      <p:sp>
        <p:nvSpPr>
          <p:cNvPr id="13" name="Text 7"/>
          <p:cNvSpPr/>
          <p:nvPr/>
        </p:nvSpPr>
        <p:spPr>
          <a:xfrm>
            <a:off x="8307348" y="492656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requests </a:t>
            </a:r>
            <a:endParaRPr lang="en-US" sz="2200" dirty="0"/>
          </a:p>
        </p:txBody>
      </p:sp>
      <p:sp>
        <p:nvSpPr>
          <p:cNvPr id="14" name="Text 8"/>
          <p:cNvSpPr/>
          <p:nvPr/>
        </p:nvSpPr>
        <p:spPr>
          <a:xfrm>
            <a:off x="8307348" y="5416987"/>
            <a:ext cx="5529263"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Gọi Jisho Dictionary API. </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19EDDC0-4FD5-6422-26B8-6E4B822BB3DE}"/>
              </a:ext>
            </a:extLst>
          </p:cNvPr>
          <p:cNvSpPr/>
          <p:nvPr/>
        </p:nvSpPr>
        <p:spPr>
          <a:xfrm>
            <a:off x="-431516" y="-400692"/>
            <a:ext cx="15354015" cy="87572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ext 0"/>
          <p:cNvSpPr/>
          <p:nvPr/>
        </p:nvSpPr>
        <p:spPr>
          <a:xfrm>
            <a:off x="1201460" y="493395"/>
            <a:ext cx="7242334" cy="553760"/>
          </a:xfrm>
          <a:prstGeom prst="rect">
            <a:avLst/>
          </a:prstGeom>
          <a:noFill/>
          <a:ln/>
        </p:spPr>
        <p:txBody>
          <a:bodyPr wrap="none" lIns="0" tIns="0" rIns="0" bIns="0" rtlCol="0" anchor="t"/>
          <a:lstStyle/>
          <a:p>
            <a:pPr marL="0" indent="0" algn="l">
              <a:lnSpc>
                <a:spcPts val="4350"/>
              </a:lnSpc>
              <a:buNone/>
            </a:pPr>
            <a:r>
              <a:rPr lang="en-US" sz="3450" b="1" dirty="0">
                <a:solidFill>
                  <a:srgbClr val="000000"/>
                </a:solidFill>
                <a:latin typeface="Inter Bold" pitchFamily="34" charset="0"/>
                <a:ea typeface="Inter Bold" pitchFamily="34" charset="-122"/>
                <a:cs typeface="Inter Bold" pitchFamily="34" charset="-120"/>
              </a:rPr>
              <a:t>Kiến Trúc Dự Án — Mô Hình 3 Lớp</a:t>
            </a:r>
            <a:endParaRPr lang="en-US" sz="3450" dirty="0"/>
          </a:p>
        </p:txBody>
      </p:sp>
      <p:sp>
        <p:nvSpPr>
          <p:cNvPr id="3" name="Text 1"/>
          <p:cNvSpPr/>
          <p:nvPr/>
        </p:nvSpPr>
        <p:spPr>
          <a:xfrm>
            <a:off x="1201460" y="1323975"/>
            <a:ext cx="12227362" cy="252413"/>
          </a:xfrm>
          <a:prstGeom prst="rect">
            <a:avLst/>
          </a:prstGeom>
          <a:noFill/>
          <a:ln/>
        </p:spPr>
        <p:txBody>
          <a:bodyPr wrap="none" lIns="0" tIns="0" rIns="0" bIns="0" rtlCol="0" anchor="t"/>
          <a:lstStyle/>
          <a:p>
            <a:pPr marL="0" indent="0" algn="l">
              <a:lnSpc>
                <a:spcPts val="1950"/>
              </a:lnSpc>
              <a:buNone/>
            </a:pPr>
            <a:endParaRPr lang="en-US" sz="1350" dirty="0"/>
          </a:p>
        </p:txBody>
      </p:sp>
      <p:pic>
        <p:nvPicPr>
          <p:cNvPr id="4" name="Image 0" descr="preencoded.png"/>
          <p:cNvPicPr>
            <a:picLocks noChangeAspect="1"/>
          </p:cNvPicPr>
          <p:nvPr/>
        </p:nvPicPr>
        <p:blipFill>
          <a:blip r:embed="rId3"/>
          <a:stretch>
            <a:fillRect/>
          </a:stretch>
        </p:blipFill>
        <p:spPr>
          <a:xfrm>
            <a:off x="1201460" y="1732121"/>
            <a:ext cx="12227362" cy="5595818"/>
          </a:xfrm>
          <a:prstGeom prst="rect">
            <a:avLst/>
          </a:prstGeom>
        </p:spPr>
      </p:pic>
      <p:sp>
        <p:nvSpPr>
          <p:cNvPr id="5" name="Text 2"/>
          <p:cNvSpPr/>
          <p:nvPr/>
        </p:nvSpPr>
        <p:spPr>
          <a:xfrm>
            <a:off x="10158065" y="2471036"/>
            <a:ext cx="2704830" cy="33810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Giao Diện</a:t>
            </a:r>
            <a:endParaRPr lang="en-US" sz="2100" dirty="0"/>
          </a:p>
        </p:txBody>
      </p:sp>
      <p:sp>
        <p:nvSpPr>
          <p:cNvPr id="6" name="Text 3"/>
          <p:cNvSpPr/>
          <p:nvPr/>
        </p:nvSpPr>
        <p:spPr>
          <a:xfrm>
            <a:off x="10158065" y="2905311"/>
            <a:ext cx="2981324" cy="481610"/>
          </a:xfrm>
          <a:prstGeom prst="rect">
            <a:avLst/>
          </a:prstGeom>
          <a:noFill/>
          <a:ln/>
        </p:spPr>
        <p:txBody>
          <a:bodyPr wrap="square" lIns="0" tIns="0" rIns="0" bIns="0" rtlCol="0" anchor="t"/>
          <a:lstStyle/>
          <a:p>
            <a:pPr marL="0" indent="0" algn="l">
              <a:lnSpc>
                <a:spcPts val="1850"/>
              </a:lnSpc>
              <a:buNone/>
            </a:pPr>
            <a:r>
              <a:rPr lang="en-US" sz="1700" dirty="0">
                <a:solidFill>
                  <a:srgbClr val="272525"/>
                </a:solidFill>
                <a:latin typeface="Inter" pitchFamily="34" charset="0"/>
                <a:ea typeface="Inter" pitchFamily="34" charset="-122"/>
                <a:cs typeface="Inter" pitchFamily="34" charset="-120"/>
              </a:rPr>
              <a:t>main.py + .ui: tín hiệu, slot, sự kiện</a:t>
            </a:r>
            <a:endParaRPr lang="en-US" sz="1700" dirty="0"/>
          </a:p>
        </p:txBody>
      </p:sp>
      <p:sp>
        <p:nvSpPr>
          <p:cNvPr id="7" name="Text 4"/>
          <p:cNvSpPr/>
          <p:nvPr/>
        </p:nvSpPr>
        <p:spPr>
          <a:xfrm>
            <a:off x="1526652" y="4310320"/>
            <a:ext cx="2704830" cy="338104"/>
          </a:xfrm>
          <a:prstGeom prst="rect">
            <a:avLst/>
          </a:prstGeom>
          <a:noFill/>
          <a:ln/>
        </p:spPr>
        <p:txBody>
          <a:bodyPr wrap="none" lIns="0" tIns="0" rIns="0" bIns="0" rtlCol="0" anchor="t"/>
          <a:lstStyle/>
          <a:p>
            <a:pPr marL="0" indent="0" algn="r">
              <a:lnSpc>
                <a:spcPts val="2650"/>
              </a:lnSpc>
              <a:buNone/>
            </a:pPr>
            <a:r>
              <a:rPr lang="en-US" sz="2100" b="1" dirty="0">
                <a:solidFill>
                  <a:srgbClr val="272525"/>
                </a:solidFill>
                <a:latin typeface="Inter Bold" pitchFamily="34" charset="0"/>
                <a:ea typeface="Inter Bold" pitchFamily="34" charset="-122"/>
                <a:cs typeface="Inter Bold" pitchFamily="34" charset="-120"/>
              </a:rPr>
              <a:t>Tầng DAO</a:t>
            </a:r>
            <a:endParaRPr lang="en-US" sz="2100" dirty="0"/>
          </a:p>
        </p:txBody>
      </p:sp>
      <p:sp>
        <p:nvSpPr>
          <p:cNvPr id="8" name="Text 5"/>
          <p:cNvSpPr/>
          <p:nvPr/>
        </p:nvSpPr>
        <p:spPr>
          <a:xfrm>
            <a:off x="1490587" y="4744596"/>
            <a:ext cx="2740894" cy="481610"/>
          </a:xfrm>
          <a:prstGeom prst="rect">
            <a:avLst/>
          </a:prstGeom>
          <a:noFill/>
          <a:ln/>
        </p:spPr>
        <p:txBody>
          <a:bodyPr wrap="square" lIns="0" tIns="0" rIns="0" bIns="0" rtlCol="0" anchor="t"/>
          <a:lstStyle/>
          <a:p>
            <a:pPr marL="0" indent="0" algn="r">
              <a:lnSpc>
                <a:spcPts val="1850"/>
              </a:lnSpc>
              <a:buNone/>
            </a:pPr>
            <a:r>
              <a:rPr lang="en-US" sz="1700" dirty="0">
                <a:solidFill>
                  <a:srgbClr val="272525"/>
                </a:solidFill>
                <a:latin typeface="Inter" pitchFamily="34" charset="0"/>
                <a:ea typeface="Inter" pitchFamily="34" charset="-122"/>
                <a:cs typeface="Inter" pitchFamily="34" charset="-120"/>
              </a:rPr>
              <a:t>DeckDAO/NoteDAO/CardDAO: CRUD và SM-2</a:t>
            </a:r>
            <a:endParaRPr lang="en-US" sz="1700" dirty="0"/>
          </a:p>
        </p:txBody>
      </p:sp>
      <p:sp>
        <p:nvSpPr>
          <p:cNvPr id="9" name="Text 6"/>
          <p:cNvSpPr/>
          <p:nvPr/>
        </p:nvSpPr>
        <p:spPr>
          <a:xfrm>
            <a:off x="10158065" y="5260016"/>
            <a:ext cx="2704830" cy="33810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Lõi Dữ Liệu</a:t>
            </a:r>
            <a:endParaRPr lang="en-US" sz="2100" dirty="0"/>
          </a:p>
        </p:txBody>
      </p:sp>
      <p:sp>
        <p:nvSpPr>
          <p:cNvPr id="10" name="Text 7"/>
          <p:cNvSpPr/>
          <p:nvPr/>
        </p:nvSpPr>
        <p:spPr>
          <a:xfrm>
            <a:off x="10158065" y="5694291"/>
            <a:ext cx="2981324" cy="481610"/>
          </a:xfrm>
          <a:prstGeom prst="rect">
            <a:avLst/>
          </a:prstGeom>
          <a:noFill/>
          <a:ln/>
        </p:spPr>
        <p:txBody>
          <a:bodyPr wrap="square" lIns="0" tIns="0" rIns="0" bIns="0" rtlCol="0" anchor="t"/>
          <a:lstStyle/>
          <a:p>
            <a:pPr marL="0" indent="0" algn="l">
              <a:lnSpc>
                <a:spcPts val="1850"/>
              </a:lnSpc>
              <a:buNone/>
            </a:pPr>
            <a:r>
              <a:rPr lang="en-US" sz="1700" dirty="0">
                <a:solidFill>
                  <a:srgbClr val="272525"/>
                </a:solidFill>
                <a:latin typeface="Inter" pitchFamily="34" charset="0"/>
                <a:ea typeface="Inter" pitchFamily="34" charset="-122"/>
                <a:cs typeface="Inter" pitchFamily="34" charset="-120"/>
              </a:rPr>
              <a:t>anki_data.json: decks, notes, cards</a:t>
            </a:r>
            <a:endParaRPr lang="en-US" sz="1700" dirty="0"/>
          </a:p>
        </p:txBody>
      </p:sp>
      <p:sp>
        <p:nvSpPr>
          <p:cNvPr id="11" name="Text 8"/>
          <p:cNvSpPr/>
          <p:nvPr/>
        </p:nvSpPr>
        <p:spPr>
          <a:xfrm>
            <a:off x="1201460" y="7483673"/>
            <a:ext cx="12227362" cy="252413"/>
          </a:xfrm>
          <a:prstGeom prst="rect">
            <a:avLst/>
          </a:prstGeom>
          <a:noFill/>
          <a:ln/>
        </p:spPr>
        <p:txBody>
          <a:bodyPr wrap="none" lIns="0" tIns="0" rIns="0" bIns="0" rtlCol="0" anchor="t"/>
          <a:lstStyle/>
          <a:p>
            <a:pPr marL="0" indent="0" algn="l">
              <a:lnSpc>
                <a:spcPts val="1950"/>
              </a:lnSpc>
              <a:buNone/>
            </a:pPr>
            <a:r>
              <a:rPr lang="en-US" sz="1350" dirty="0">
                <a:solidFill>
                  <a:srgbClr val="272525"/>
                </a:solidFill>
                <a:latin typeface="Inter" pitchFamily="34" charset="0"/>
                <a:ea typeface="Inter" pitchFamily="34" charset="-122"/>
                <a:cs typeface="Inter" pitchFamily="34" charset="-120"/>
              </a:rPr>
              <a:t>Giao diện tuyệt đối </a:t>
            </a:r>
            <a:r>
              <a:rPr lang="en-US" sz="1350" b="1" dirty="0">
                <a:solidFill>
                  <a:srgbClr val="272525"/>
                </a:solidFill>
                <a:latin typeface="Inter" pitchFamily="34" charset="0"/>
                <a:ea typeface="Inter" pitchFamily="34" charset="-122"/>
                <a:cs typeface="Inter" pitchFamily="34" charset="-120"/>
              </a:rPr>
              <a:t>không truy cập trực tiếp</a:t>
            </a:r>
            <a:r>
              <a:rPr lang="en-US" sz="1350" dirty="0">
                <a:solidFill>
                  <a:srgbClr val="272525"/>
                </a:solidFill>
                <a:latin typeface="Inter" pitchFamily="34" charset="0"/>
                <a:ea typeface="Inter" pitchFamily="34" charset="-122"/>
                <a:cs typeface="Inter" pitchFamily="34" charset="-120"/>
              </a:rPr>
              <a:t> vào file JSON — mọi yêu cầu phải đi qua tầng DAO.</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B220862-8DD8-0991-378F-E67288E0B1C1}"/>
              </a:ext>
            </a:extLst>
          </p:cNvPr>
          <p:cNvSpPr/>
          <p:nvPr/>
        </p:nvSpPr>
        <p:spPr>
          <a:xfrm>
            <a:off x="-431516" y="-400692"/>
            <a:ext cx="15354015" cy="87572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ext 0"/>
          <p:cNvSpPr/>
          <p:nvPr/>
        </p:nvSpPr>
        <p:spPr>
          <a:xfrm>
            <a:off x="793790" y="1008936"/>
            <a:ext cx="9557266"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Các Chức Năng Chính (Use Cases)</a:t>
            </a:r>
            <a:endParaRPr lang="en-US" sz="4450" dirty="0"/>
          </a:p>
        </p:txBody>
      </p:sp>
      <p:sp>
        <p:nvSpPr>
          <p:cNvPr id="3" name="Shape 1"/>
          <p:cNvSpPr/>
          <p:nvPr/>
        </p:nvSpPr>
        <p:spPr>
          <a:xfrm>
            <a:off x="793790" y="2171343"/>
            <a:ext cx="6407944" cy="2411254"/>
          </a:xfrm>
          <a:prstGeom prst="roundRect">
            <a:avLst>
              <a:gd name="adj" fmla="val 3951"/>
            </a:avLst>
          </a:prstGeom>
          <a:solidFill>
            <a:srgbClr val="FFFFFF"/>
          </a:solidFill>
          <a:ln w="30480">
            <a:solidFill>
              <a:srgbClr val="C0C1D7"/>
            </a:solidFill>
            <a:prstDash val="solid"/>
          </a:ln>
        </p:spPr>
      </p:sp>
      <p:sp>
        <p:nvSpPr>
          <p:cNvPr id="4" name="Shape 2"/>
          <p:cNvSpPr/>
          <p:nvPr/>
        </p:nvSpPr>
        <p:spPr>
          <a:xfrm>
            <a:off x="824270" y="2201823"/>
            <a:ext cx="6346984" cy="680442"/>
          </a:xfrm>
          <a:prstGeom prst="roundRect">
            <a:avLst>
              <a:gd name="adj" fmla="val 8626"/>
            </a:avLst>
          </a:prstGeom>
          <a:solidFill>
            <a:srgbClr val="DADBF1"/>
          </a:solidFill>
          <a:ln/>
        </p:spPr>
      </p:sp>
      <p:sp>
        <p:nvSpPr>
          <p:cNvPr id="5" name="Text 3"/>
          <p:cNvSpPr/>
          <p:nvPr/>
        </p:nvSpPr>
        <p:spPr>
          <a:xfrm>
            <a:off x="3827621" y="2325529"/>
            <a:ext cx="340162" cy="425291"/>
          </a:xfrm>
          <a:prstGeom prst="rect">
            <a:avLst/>
          </a:prstGeom>
          <a:noFill/>
          <a:ln/>
        </p:spPr>
        <p:txBody>
          <a:bodyPr wrap="none" lIns="0" tIns="0" rIns="0" bIns="0" rtlCol="0" anchor="t"/>
          <a:lstStyle/>
          <a:p>
            <a:pPr marL="0" indent="0" algn="l">
              <a:lnSpc>
                <a:spcPts val="2650"/>
              </a:lnSpc>
              <a:buNone/>
            </a:pPr>
            <a:r>
              <a:rPr lang="en-US" sz="2650" b="1" dirty="0">
                <a:solidFill>
                  <a:srgbClr val="272525"/>
                </a:solidFill>
                <a:latin typeface="Inter Bold" pitchFamily="34" charset="0"/>
                <a:ea typeface="Inter Bold" pitchFamily="34" charset="-122"/>
                <a:cs typeface="Inter Bold" pitchFamily="34" charset="-120"/>
              </a:rPr>
              <a:t>1</a:t>
            </a:r>
            <a:endParaRPr lang="en-US" sz="2650" dirty="0"/>
          </a:p>
        </p:txBody>
      </p:sp>
      <p:sp>
        <p:nvSpPr>
          <p:cNvPr id="6" name="Text 4"/>
          <p:cNvSpPr/>
          <p:nvPr/>
        </p:nvSpPr>
        <p:spPr>
          <a:xfrm>
            <a:off x="1051084" y="310907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Quản lý Bộ Thẻ</a:t>
            </a:r>
            <a:endParaRPr lang="en-US" sz="2200" dirty="0"/>
          </a:p>
        </p:txBody>
      </p:sp>
      <p:sp>
        <p:nvSpPr>
          <p:cNvPr id="7" name="Text 5"/>
          <p:cNvSpPr/>
          <p:nvPr/>
        </p:nvSpPr>
        <p:spPr>
          <a:xfrm>
            <a:off x="1051084" y="3599497"/>
            <a:ext cx="589335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Tạo mới, đổi tên, xóa Deck. Thống kê thẻ Mới / Đang học / Đến hạn.</a:t>
            </a:r>
            <a:endParaRPr lang="en-US" sz="1750" dirty="0"/>
          </a:p>
        </p:txBody>
      </p:sp>
      <p:sp>
        <p:nvSpPr>
          <p:cNvPr id="8" name="Shape 6"/>
          <p:cNvSpPr/>
          <p:nvPr/>
        </p:nvSpPr>
        <p:spPr>
          <a:xfrm>
            <a:off x="7428548" y="2171343"/>
            <a:ext cx="6408063" cy="2411254"/>
          </a:xfrm>
          <a:prstGeom prst="roundRect">
            <a:avLst>
              <a:gd name="adj" fmla="val 3951"/>
            </a:avLst>
          </a:prstGeom>
          <a:solidFill>
            <a:srgbClr val="FFFFFF"/>
          </a:solidFill>
          <a:ln w="30480">
            <a:solidFill>
              <a:srgbClr val="C0C1D7"/>
            </a:solidFill>
            <a:prstDash val="solid"/>
          </a:ln>
        </p:spPr>
      </p:sp>
      <p:sp>
        <p:nvSpPr>
          <p:cNvPr id="9" name="Shape 7"/>
          <p:cNvSpPr/>
          <p:nvPr/>
        </p:nvSpPr>
        <p:spPr>
          <a:xfrm>
            <a:off x="7459027" y="2201823"/>
            <a:ext cx="6347103" cy="680442"/>
          </a:xfrm>
          <a:prstGeom prst="roundRect">
            <a:avLst>
              <a:gd name="adj" fmla="val 8626"/>
            </a:avLst>
          </a:prstGeom>
          <a:solidFill>
            <a:srgbClr val="DADBF1"/>
          </a:solidFill>
          <a:ln/>
        </p:spPr>
      </p:sp>
      <p:sp>
        <p:nvSpPr>
          <p:cNvPr id="10" name="Text 8"/>
          <p:cNvSpPr/>
          <p:nvPr/>
        </p:nvSpPr>
        <p:spPr>
          <a:xfrm>
            <a:off x="10462498" y="2325529"/>
            <a:ext cx="340162" cy="425291"/>
          </a:xfrm>
          <a:prstGeom prst="rect">
            <a:avLst/>
          </a:prstGeom>
          <a:noFill/>
          <a:ln/>
        </p:spPr>
        <p:txBody>
          <a:bodyPr wrap="none" lIns="0" tIns="0" rIns="0" bIns="0" rtlCol="0" anchor="t"/>
          <a:lstStyle/>
          <a:p>
            <a:pPr marL="0" indent="0" algn="l">
              <a:lnSpc>
                <a:spcPts val="2650"/>
              </a:lnSpc>
              <a:buNone/>
            </a:pPr>
            <a:r>
              <a:rPr lang="en-US" sz="2650" b="1" dirty="0">
                <a:solidFill>
                  <a:srgbClr val="272525"/>
                </a:solidFill>
                <a:latin typeface="Inter Bold" pitchFamily="34" charset="0"/>
                <a:ea typeface="Inter Bold" pitchFamily="34" charset="-122"/>
                <a:cs typeface="Inter Bold" pitchFamily="34" charset="-120"/>
              </a:rPr>
              <a:t>2</a:t>
            </a:r>
            <a:endParaRPr lang="en-US" sz="2650" dirty="0"/>
          </a:p>
        </p:txBody>
      </p:sp>
      <p:sp>
        <p:nvSpPr>
          <p:cNvPr id="11" name="Text 9"/>
          <p:cNvSpPr/>
          <p:nvPr/>
        </p:nvSpPr>
        <p:spPr>
          <a:xfrm>
            <a:off x="7685842" y="310907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Quản lý Kho Thẻ</a:t>
            </a:r>
            <a:endParaRPr lang="en-US" sz="2200" dirty="0"/>
          </a:p>
        </p:txBody>
      </p:sp>
      <p:sp>
        <p:nvSpPr>
          <p:cNvPr id="12" name="Text 10"/>
          <p:cNvSpPr/>
          <p:nvPr/>
        </p:nvSpPr>
        <p:spPr>
          <a:xfrm>
            <a:off x="7685842" y="3599497"/>
            <a:ext cx="589347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Thêm thẻ cơ bản hoặc tự động sinh 2 thẻ đảo mặt. Sửa/xóa với Cascading Delete.</a:t>
            </a:r>
            <a:endParaRPr lang="en-US" sz="1750" dirty="0"/>
          </a:p>
        </p:txBody>
      </p:sp>
      <p:sp>
        <p:nvSpPr>
          <p:cNvPr id="13" name="Shape 11"/>
          <p:cNvSpPr/>
          <p:nvPr/>
        </p:nvSpPr>
        <p:spPr>
          <a:xfrm>
            <a:off x="793790" y="4809411"/>
            <a:ext cx="6407944" cy="2411254"/>
          </a:xfrm>
          <a:prstGeom prst="roundRect">
            <a:avLst>
              <a:gd name="adj" fmla="val 3951"/>
            </a:avLst>
          </a:prstGeom>
          <a:solidFill>
            <a:srgbClr val="FFFFFF"/>
          </a:solidFill>
          <a:ln w="30480">
            <a:solidFill>
              <a:srgbClr val="C0C1D7"/>
            </a:solidFill>
            <a:prstDash val="solid"/>
          </a:ln>
        </p:spPr>
      </p:sp>
      <p:sp>
        <p:nvSpPr>
          <p:cNvPr id="14" name="Shape 12"/>
          <p:cNvSpPr/>
          <p:nvPr/>
        </p:nvSpPr>
        <p:spPr>
          <a:xfrm>
            <a:off x="824270" y="4839891"/>
            <a:ext cx="6346984" cy="680442"/>
          </a:xfrm>
          <a:prstGeom prst="roundRect">
            <a:avLst>
              <a:gd name="adj" fmla="val 8626"/>
            </a:avLst>
          </a:prstGeom>
          <a:solidFill>
            <a:srgbClr val="DADBF1"/>
          </a:solidFill>
          <a:ln/>
        </p:spPr>
      </p:sp>
      <p:sp>
        <p:nvSpPr>
          <p:cNvPr id="15" name="Text 13"/>
          <p:cNvSpPr/>
          <p:nvPr/>
        </p:nvSpPr>
        <p:spPr>
          <a:xfrm>
            <a:off x="3827621" y="4963597"/>
            <a:ext cx="340162" cy="425291"/>
          </a:xfrm>
          <a:prstGeom prst="rect">
            <a:avLst/>
          </a:prstGeom>
          <a:noFill/>
          <a:ln/>
        </p:spPr>
        <p:txBody>
          <a:bodyPr wrap="none" lIns="0" tIns="0" rIns="0" bIns="0" rtlCol="0" anchor="t"/>
          <a:lstStyle/>
          <a:p>
            <a:pPr marL="0" indent="0" algn="l">
              <a:lnSpc>
                <a:spcPts val="2650"/>
              </a:lnSpc>
              <a:buNone/>
            </a:pPr>
            <a:r>
              <a:rPr lang="en-US" sz="2650" b="1" dirty="0">
                <a:solidFill>
                  <a:srgbClr val="272525"/>
                </a:solidFill>
                <a:latin typeface="Inter Bold" pitchFamily="34" charset="0"/>
                <a:ea typeface="Inter Bold" pitchFamily="34" charset="-122"/>
                <a:cs typeface="Inter Bold" pitchFamily="34" charset="-120"/>
              </a:rPr>
              <a:t>3</a:t>
            </a:r>
            <a:endParaRPr lang="en-US" sz="2650" dirty="0"/>
          </a:p>
        </p:txBody>
      </p:sp>
      <p:sp>
        <p:nvSpPr>
          <p:cNvPr id="16" name="Text 14"/>
          <p:cNvSpPr/>
          <p:nvPr/>
        </p:nvSpPr>
        <p:spPr>
          <a:xfrm>
            <a:off x="1051084" y="574714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Lò Luyện Flashcard</a:t>
            </a:r>
            <a:endParaRPr lang="en-US" sz="2200" dirty="0"/>
          </a:p>
        </p:txBody>
      </p:sp>
      <p:sp>
        <p:nvSpPr>
          <p:cNvPr id="17" name="Text 15"/>
          <p:cNvSpPr/>
          <p:nvPr/>
        </p:nvSpPr>
        <p:spPr>
          <a:xfrm>
            <a:off x="1051084" y="6237565"/>
            <a:ext cx="5893356"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Lật thẻ, đánh giá qua 4 nút. Thuật toán SM-2 tự động lên lịch Due date tiếp theo.</a:t>
            </a:r>
            <a:endParaRPr lang="en-US" sz="1750" dirty="0"/>
          </a:p>
        </p:txBody>
      </p:sp>
      <p:sp>
        <p:nvSpPr>
          <p:cNvPr id="18" name="Shape 16"/>
          <p:cNvSpPr/>
          <p:nvPr/>
        </p:nvSpPr>
        <p:spPr>
          <a:xfrm>
            <a:off x="7428548" y="4809411"/>
            <a:ext cx="6408063" cy="2411254"/>
          </a:xfrm>
          <a:prstGeom prst="roundRect">
            <a:avLst>
              <a:gd name="adj" fmla="val 3951"/>
            </a:avLst>
          </a:prstGeom>
          <a:solidFill>
            <a:srgbClr val="FFFFFF"/>
          </a:solidFill>
          <a:ln w="30480">
            <a:solidFill>
              <a:srgbClr val="C0C1D7"/>
            </a:solidFill>
            <a:prstDash val="solid"/>
          </a:ln>
        </p:spPr>
      </p:sp>
      <p:sp>
        <p:nvSpPr>
          <p:cNvPr id="19" name="Shape 17"/>
          <p:cNvSpPr/>
          <p:nvPr/>
        </p:nvSpPr>
        <p:spPr>
          <a:xfrm>
            <a:off x="7459027" y="4839891"/>
            <a:ext cx="6347103" cy="680442"/>
          </a:xfrm>
          <a:prstGeom prst="roundRect">
            <a:avLst>
              <a:gd name="adj" fmla="val 8626"/>
            </a:avLst>
          </a:prstGeom>
          <a:solidFill>
            <a:srgbClr val="DADBF1"/>
          </a:solidFill>
          <a:ln/>
        </p:spPr>
      </p:sp>
      <p:sp>
        <p:nvSpPr>
          <p:cNvPr id="20" name="Text 18"/>
          <p:cNvSpPr/>
          <p:nvPr/>
        </p:nvSpPr>
        <p:spPr>
          <a:xfrm>
            <a:off x="10462498" y="4963597"/>
            <a:ext cx="340162" cy="425291"/>
          </a:xfrm>
          <a:prstGeom prst="rect">
            <a:avLst/>
          </a:prstGeom>
          <a:noFill/>
          <a:ln/>
        </p:spPr>
        <p:txBody>
          <a:bodyPr wrap="none" lIns="0" tIns="0" rIns="0" bIns="0" rtlCol="0" anchor="t"/>
          <a:lstStyle/>
          <a:p>
            <a:pPr marL="0" indent="0" algn="l">
              <a:lnSpc>
                <a:spcPts val="2650"/>
              </a:lnSpc>
              <a:buNone/>
            </a:pPr>
            <a:r>
              <a:rPr lang="en-US" sz="2650" b="1" dirty="0">
                <a:solidFill>
                  <a:srgbClr val="272525"/>
                </a:solidFill>
                <a:latin typeface="Inter Bold" pitchFamily="34" charset="0"/>
                <a:ea typeface="Inter Bold" pitchFamily="34" charset="-122"/>
                <a:cs typeface="Inter Bold" pitchFamily="34" charset="-120"/>
              </a:rPr>
              <a:t>4</a:t>
            </a:r>
            <a:endParaRPr lang="en-US" sz="2650" dirty="0"/>
          </a:p>
        </p:txBody>
      </p:sp>
      <p:sp>
        <p:nvSpPr>
          <p:cNvPr id="21" name="Text 19"/>
          <p:cNvSpPr/>
          <p:nvPr/>
        </p:nvSpPr>
        <p:spPr>
          <a:xfrm>
            <a:off x="7685842" y="5747147"/>
            <a:ext cx="285369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Tra Cứu Từ Điển Live</a:t>
            </a:r>
            <a:endParaRPr lang="en-US" sz="2200" dirty="0"/>
          </a:p>
        </p:txBody>
      </p:sp>
      <p:sp>
        <p:nvSpPr>
          <p:cNvPr id="22" name="Text 20"/>
          <p:cNvSpPr/>
          <p:nvPr/>
        </p:nvSpPr>
        <p:spPr>
          <a:xfrm>
            <a:off x="7685842" y="6237565"/>
            <a:ext cx="589347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Live Search gợi ý theo thời gian thực. Hiển thị Kanji, Âm On/Kun, Ý nghĩa từ Jdict API.</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81DEB03-2E00-D2DE-ADFC-926779DE7B17}"/>
              </a:ext>
            </a:extLst>
          </p:cNvPr>
          <p:cNvSpPr/>
          <p:nvPr/>
        </p:nvSpPr>
        <p:spPr>
          <a:xfrm>
            <a:off x="-361808" y="-423369"/>
            <a:ext cx="15354015" cy="87572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2" name="Text 0"/>
          <p:cNvSpPr/>
          <p:nvPr/>
        </p:nvSpPr>
        <p:spPr>
          <a:xfrm>
            <a:off x="793790" y="603623"/>
            <a:ext cx="786931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Khó Khăn &amp; Cách Khắc Phục</a:t>
            </a:r>
            <a:endParaRPr lang="en-US" sz="44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8800" y="1503536"/>
            <a:ext cx="340162" cy="340162"/>
          </a:xfrm>
          <a:prstGeom prst="rect">
            <a:avLst/>
          </a:prstGeom>
        </p:spPr>
      </p:pic>
      <p:sp>
        <p:nvSpPr>
          <p:cNvPr id="4" name="Text 1"/>
          <p:cNvSpPr/>
          <p:nvPr/>
        </p:nvSpPr>
        <p:spPr>
          <a:xfrm>
            <a:off x="1530906" y="1496512"/>
            <a:ext cx="7524194" cy="354330"/>
          </a:xfrm>
          <a:prstGeom prst="rect">
            <a:avLst/>
          </a:prstGeom>
          <a:noFill/>
          <a:ln/>
        </p:spPr>
        <p:txBody>
          <a:bodyPr wrap="none" lIns="0" tIns="0" rIns="0" bIns="0" rtlCol="0" anchor="t"/>
          <a:lstStyle/>
          <a:p>
            <a:pPr>
              <a:lnSpc>
                <a:spcPts val="2750"/>
              </a:lnSpc>
            </a:pPr>
            <a:r>
              <a:rPr lang="vi-VN" sz="2400" b="1" dirty="0"/>
              <a:t>Khó khăn về Cấu trúc dữ liệu (phân chia id, did, nid) : </a:t>
            </a:r>
            <a:endParaRPr lang="en-US" sz="2200" b="1" dirty="0"/>
          </a:p>
        </p:txBody>
      </p:sp>
      <p:sp>
        <p:nvSpPr>
          <p:cNvPr id="5" name="Text 2"/>
          <p:cNvSpPr/>
          <p:nvPr/>
        </p:nvSpPr>
        <p:spPr>
          <a:xfrm>
            <a:off x="1530906" y="1986930"/>
            <a:ext cx="12305705" cy="733425"/>
          </a:xfrm>
          <a:prstGeom prst="rect">
            <a:avLst/>
          </a:prstGeom>
          <a:noFill/>
          <a:ln/>
        </p:spPr>
        <p:txBody>
          <a:bodyPr wrap="square" lIns="0" tIns="0" rIns="0" bIns="0" rtlCol="0" anchor="t"/>
          <a:lstStyle/>
          <a:p>
            <a:pPr>
              <a:lnSpc>
                <a:spcPts val="2850"/>
              </a:lnSpc>
            </a:pPr>
            <a:r>
              <a:rPr lang="vi-VN" sz="1600" dirty="0"/>
              <a:t>Tách dữ liệu làm 2 mảng riêng biệt: "Nội dung chữ" (</a:t>
            </a:r>
            <a:r>
              <a:rPr lang="vi-VN" dirty="0"/>
              <a:t>Notes</a:t>
            </a:r>
            <a:r>
              <a:rPr lang="vi-VN" sz="1600" dirty="0"/>
              <a:t>) và "Lịch trình học" (</a:t>
            </a:r>
            <a:r>
              <a:rPr lang="vi-VN" dirty="0"/>
              <a:t>Cards</a:t>
            </a:r>
            <a:r>
              <a:rPr lang="vi-VN" sz="1600" dirty="0"/>
              <a:t>). Dùng </a:t>
            </a:r>
            <a:r>
              <a:rPr lang="vi-VN" dirty="0"/>
              <a:t>nid</a:t>
            </a:r>
            <a:r>
              <a:rPr lang="vi-VN" sz="1600" dirty="0"/>
              <a:t> làm cái móc nối 2 bên lại với nhau. Quản lý gọn gàng, xóa 1 từ là sạch sẽ toàn bộ thẻ liên quan.</a:t>
            </a:r>
            <a:endParaRPr lang="en-US" sz="17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1659" y="2980288"/>
            <a:ext cx="340162" cy="340162"/>
          </a:xfrm>
          <a:prstGeom prst="rect">
            <a:avLst/>
          </a:prstGeom>
        </p:spPr>
      </p:pic>
      <p:sp>
        <p:nvSpPr>
          <p:cNvPr id="7" name="Text 3"/>
          <p:cNvSpPr/>
          <p:nvPr/>
        </p:nvSpPr>
        <p:spPr>
          <a:xfrm>
            <a:off x="1543764" y="2973263"/>
            <a:ext cx="7714535" cy="354330"/>
          </a:xfrm>
          <a:prstGeom prst="rect">
            <a:avLst/>
          </a:prstGeom>
          <a:noFill/>
          <a:ln/>
        </p:spPr>
        <p:txBody>
          <a:bodyPr wrap="none" lIns="0" tIns="0" rIns="0" bIns="0" rtlCol="0" anchor="t"/>
          <a:lstStyle/>
          <a:p>
            <a:pPr>
              <a:lnSpc>
                <a:spcPts val="2750"/>
              </a:lnSpc>
            </a:pPr>
            <a:r>
              <a:rPr lang="vi-VN" sz="2400" b="1" dirty="0"/>
              <a:t>Khó khăn về Thuật toán: Áp dụng SM-2 vào thực tế</a:t>
            </a:r>
            <a:endParaRPr lang="en-US" sz="2200" b="1" dirty="0"/>
          </a:p>
        </p:txBody>
      </p:sp>
      <p:sp>
        <p:nvSpPr>
          <p:cNvPr id="8" name="Text 4"/>
          <p:cNvSpPr/>
          <p:nvPr/>
        </p:nvSpPr>
        <p:spPr>
          <a:xfrm>
            <a:off x="1530906" y="4702969"/>
            <a:ext cx="12305705" cy="733425"/>
          </a:xfrm>
          <a:prstGeom prst="rect">
            <a:avLst/>
          </a:prstGeom>
          <a:noFill/>
          <a:ln/>
        </p:spPr>
        <p:txBody>
          <a:bodyPr wrap="square" lIns="0" tIns="0" rIns="0" bIns="0" rtlCol="0" anchor="t"/>
          <a:lstStyle/>
          <a:p>
            <a:pPr marL="0" indent="0" algn="l">
              <a:lnSpc>
                <a:spcPts val="2850"/>
              </a:lnSpc>
              <a:buNone/>
            </a:pPr>
            <a:endParaRPr lang="en-US" sz="17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8799" y="4190895"/>
            <a:ext cx="340162" cy="340162"/>
          </a:xfrm>
          <a:prstGeom prst="rect">
            <a:avLst/>
          </a:prstGeom>
        </p:spPr>
      </p:pic>
      <p:sp>
        <p:nvSpPr>
          <p:cNvPr id="10" name="Text 5"/>
          <p:cNvSpPr/>
          <p:nvPr/>
        </p:nvSpPr>
        <p:spPr>
          <a:xfrm>
            <a:off x="1530905" y="4183870"/>
            <a:ext cx="6242209" cy="354330"/>
          </a:xfrm>
          <a:prstGeom prst="rect">
            <a:avLst/>
          </a:prstGeom>
          <a:noFill/>
          <a:ln/>
        </p:spPr>
        <p:txBody>
          <a:bodyPr wrap="none" lIns="0" tIns="0" rIns="0" bIns="0" rtlCol="0" anchor="t"/>
          <a:lstStyle/>
          <a:p>
            <a:pPr>
              <a:lnSpc>
                <a:spcPts val="2750"/>
              </a:lnSpc>
            </a:pPr>
            <a:r>
              <a:rPr lang="vi-VN" sz="2400" b="1" dirty="0"/>
              <a:t>Truy xuất dữ liệu trong mạng lưới phức tạp</a:t>
            </a:r>
            <a:endParaRPr lang="en-US" sz="2200" b="1" dirty="0"/>
          </a:p>
        </p:txBody>
      </p:sp>
      <p:sp>
        <p:nvSpPr>
          <p:cNvPr id="13" name="Text 2">
            <a:extLst>
              <a:ext uri="{FF2B5EF4-FFF2-40B4-BE49-F238E27FC236}">
                <a16:creationId xmlns:a16="http://schemas.microsoft.com/office/drawing/2014/main" id="{79B23546-072D-3E02-2F58-9A35A992DD19}"/>
              </a:ext>
            </a:extLst>
          </p:cNvPr>
          <p:cNvSpPr/>
          <p:nvPr/>
        </p:nvSpPr>
        <p:spPr>
          <a:xfrm>
            <a:off x="1530905" y="3373475"/>
            <a:ext cx="12305705" cy="733425"/>
          </a:xfrm>
          <a:prstGeom prst="rect">
            <a:avLst/>
          </a:prstGeom>
          <a:noFill/>
          <a:ln/>
        </p:spPr>
        <p:txBody>
          <a:bodyPr wrap="square" lIns="0" tIns="0" rIns="0" bIns="0" rtlCol="0" anchor="t"/>
          <a:lstStyle/>
          <a:p>
            <a:pPr>
              <a:lnSpc>
                <a:spcPts val="2850"/>
              </a:lnSpc>
            </a:pPr>
            <a:r>
              <a:rPr lang="vi-VN" sz="1600" dirty="0"/>
              <a:t>Cải tiến lại bằng cách thêm "Trạng thái thẻ" (Mới, Đang học, Tốt nghiệp). Thẻ phải qua giai đoạn "Đang học" (nhớ được vài ngày) thì mới được hệ thống cho phép dùng công thức lãi kép nhân ngày lên xa hơn.</a:t>
            </a:r>
            <a:endParaRPr lang="en-US" sz="1750" dirty="0"/>
          </a:p>
        </p:txBody>
      </p:sp>
      <p:pic>
        <p:nvPicPr>
          <p:cNvPr id="14" name="Image 2" descr="preencoded.png">
            <a:extLst>
              <a:ext uri="{FF2B5EF4-FFF2-40B4-BE49-F238E27FC236}">
                <a16:creationId xmlns:a16="http://schemas.microsoft.com/office/drawing/2014/main" id="{61E60FF2-E125-5CEB-292B-4CB6142C44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1659" y="4835014"/>
            <a:ext cx="340162" cy="340162"/>
          </a:xfrm>
          <a:prstGeom prst="rect">
            <a:avLst/>
          </a:prstGeom>
        </p:spPr>
      </p:pic>
      <p:sp>
        <p:nvSpPr>
          <p:cNvPr id="15" name="Text 5">
            <a:extLst>
              <a:ext uri="{FF2B5EF4-FFF2-40B4-BE49-F238E27FC236}">
                <a16:creationId xmlns:a16="http://schemas.microsoft.com/office/drawing/2014/main" id="{963AF6A8-227A-2D4E-28DD-AEA9683D98F7}"/>
              </a:ext>
            </a:extLst>
          </p:cNvPr>
          <p:cNvSpPr/>
          <p:nvPr/>
        </p:nvSpPr>
        <p:spPr>
          <a:xfrm>
            <a:off x="1543764" y="4801471"/>
            <a:ext cx="6242209" cy="354330"/>
          </a:xfrm>
          <a:prstGeom prst="rect">
            <a:avLst/>
          </a:prstGeom>
          <a:noFill/>
          <a:ln/>
        </p:spPr>
        <p:txBody>
          <a:bodyPr wrap="none" lIns="0" tIns="0" rIns="0" bIns="0" rtlCol="0" anchor="t"/>
          <a:lstStyle/>
          <a:p>
            <a:pPr>
              <a:lnSpc>
                <a:spcPts val="2750"/>
              </a:lnSpc>
            </a:pPr>
            <a:r>
              <a:rPr lang="vi-VN" sz="2400" b="1" dirty="0"/>
              <a:t>Khó khăn về Giao diện: Cứng nhắc</a:t>
            </a:r>
          </a:p>
          <a:p>
            <a:pPr>
              <a:lnSpc>
                <a:spcPts val="2750"/>
              </a:lnSpc>
            </a:pPr>
            <a:r>
              <a:rPr lang="vi-VN" sz="2400" b="1" dirty="0"/>
              <a:t> </a:t>
            </a:r>
            <a:endParaRPr lang="en-US" sz="2200" b="1" dirty="0"/>
          </a:p>
        </p:txBody>
      </p:sp>
      <p:pic>
        <p:nvPicPr>
          <p:cNvPr id="17" name="Image 2" descr="preencoded.png">
            <a:extLst>
              <a:ext uri="{FF2B5EF4-FFF2-40B4-BE49-F238E27FC236}">
                <a16:creationId xmlns:a16="http://schemas.microsoft.com/office/drawing/2014/main" id="{1AF74597-F9E6-01A1-8C4A-AB963D7652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8799" y="5600187"/>
            <a:ext cx="340162" cy="340162"/>
          </a:xfrm>
          <a:prstGeom prst="rect">
            <a:avLst/>
          </a:prstGeom>
        </p:spPr>
      </p:pic>
      <p:sp>
        <p:nvSpPr>
          <p:cNvPr id="18" name="Text 5">
            <a:extLst>
              <a:ext uri="{FF2B5EF4-FFF2-40B4-BE49-F238E27FC236}">
                <a16:creationId xmlns:a16="http://schemas.microsoft.com/office/drawing/2014/main" id="{1A0A6446-F3C1-37C6-694C-5B162D43915A}"/>
              </a:ext>
            </a:extLst>
          </p:cNvPr>
          <p:cNvSpPr/>
          <p:nvPr/>
        </p:nvSpPr>
        <p:spPr>
          <a:xfrm>
            <a:off x="1543764" y="5576677"/>
            <a:ext cx="6242209" cy="354330"/>
          </a:xfrm>
          <a:prstGeom prst="rect">
            <a:avLst/>
          </a:prstGeom>
          <a:noFill/>
          <a:ln/>
        </p:spPr>
        <p:txBody>
          <a:bodyPr wrap="none" lIns="0" tIns="0" rIns="0" bIns="0" rtlCol="0" anchor="t"/>
          <a:lstStyle/>
          <a:p>
            <a:pPr>
              <a:lnSpc>
                <a:spcPts val="2750"/>
              </a:lnSpc>
            </a:pPr>
            <a:r>
              <a:rPr lang="en-US" sz="2200" b="1" dirty="0">
                <a:solidFill>
                  <a:srgbClr val="272525"/>
                </a:solidFill>
                <a:latin typeface="Inter Bold" pitchFamily="34" charset="0"/>
                <a:ea typeface="Inter Bold" pitchFamily="34" charset="-122"/>
                <a:cs typeface="Inter Bold" pitchFamily="34" charset="-120"/>
              </a:rPr>
              <a:t>API Spam — </a:t>
            </a:r>
            <a:r>
              <a:rPr lang="vi-VN" sz="2200" b="1" dirty="0">
                <a:solidFill>
                  <a:srgbClr val="272525"/>
                </a:solidFill>
                <a:latin typeface="Inter Bold" pitchFamily="34" charset="0"/>
                <a:ea typeface="Inter Bold" pitchFamily="34" charset="-122"/>
                <a:cs typeface="Inter Bold" pitchFamily="34" charset="-120"/>
              </a:rPr>
              <a:t>Dùng </a:t>
            </a:r>
            <a:r>
              <a:rPr lang="vi-VN" sz="2400" b="1" dirty="0"/>
              <a:t>QTimer</a:t>
            </a:r>
            <a:endParaRPr lang="en-US" sz="2200" b="1" dirty="0"/>
          </a:p>
        </p:txBody>
      </p:sp>
      <p:sp>
        <p:nvSpPr>
          <p:cNvPr id="19" name="Text 6">
            <a:extLst>
              <a:ext uri="{FF2B5EF4-FFF2-40B4-BE49-F238E27FC236}">
                <a16:creationId xmlns:a16="http://schemas.microsoft.com/office/drawing/2014/main" id="{17D84425-5BEF-A97E-5389-D6E28AE03970}"/>
              </a:ext>
            </a:extLst>
          </p:cNvPr>
          <p:cNvSpPr/>
          <p:nvPr/>
        </p:nvSpPr>
        <p:spPr>
          <a:xfrm>
            <a:off x="1530904" y="6167973"/>
            <a:ext cx="12305705"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Chờ người dùng ngừng gõ </a:t>
            </a:r>
            <a:r>
              <a:rPr lang="en-US" sz="1750" b="1" dirty="0">
                <a:solidFill>
                  <a:srgbClr val="272525"/>
                </a:solidFill>
                <a:latin typeface="Inter" pitchFamily="34" charset="0"/>
                <a:ea typeface="Inter" pitchFamily="34" charset="-122"/>
                <a:cs typeface="Inter" pitchFamily="34" charset="-120"/>
              </a:rPr>
              <a:t>0.5 giây</a:t>
            </a:r>
            <a:r>
              <a:rPr lang="en-US" sz="1750" dirty="0">
                <a:solidFill>
                  <a:srgbClr val="272525"/>
                </a:solidFill>
                <a:latin typeface="Inter" pitchFamily="34" charset="0"/>
                <a:ea typeface="Inter" pitchFamily="34" charset="-122"/>
                <a:cs typeface="Inter" pitchFamily="34" charset="-120"/>
              </a:rPr>
              <a:t> mới gọi API — tránh treo app và bị server chặn IP.</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6A6115B2-F8DD-1EE2-EB85-5F4D929E20E0}"/>
              </a:ext>
            </a:extLst>
          </p:cNvPr>
          <p:cNvSpPr/>
          <p:nvPr/>
        </p:nvSpPr>
        <p:spPr>
          <a:xfrm>
            <a:off x="-431516" y="-400692"/>
            <a:ext cx="15354015" cy="87572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ext 0"/>
          <p:cNvSpPr/>
          <p:nvPr/>
        </p:nvSpPr>
        <p:spPr>
          <a:xfrm>
            <a:off x="793790" y="1228606"/>
            <a:ext cx="9008269"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Định Hướng Phát Triển Tương Lai</a:t>
            </a:r>
            <a:endParaRPr lang="en-US" sz="4450" dirty="0"/>
          </a:p>
        </p:txBody>
      </p:sp>
      <p:sp>
        <p:nvSpPr>
          <p:cNvPr id="3" name="Shape 1"/>
          <p:cNvSpPr/>
          <p:nvPr/>
        </p:nvSpPr>
        <p:spPr>
          <a:xfrm>
            <a:off x="793790" y="4877395"/>
            <a:ext cx="13042821" cy="30480"/>
          </a:xfrm>
          <a:prstGeom prst="roundRect">
            <a:avLst>
              <a:gd name="adj" fmla="val 312558"/>
            </a:avLst>
          </a:prstGeom>
          <a:solidFill>
            <a:srgbClr val="C0C1D7"/>
          </a:solidFill>
          <a:ln/>
        </p:spPr>
      </p:sp>
      <p:sp>
        <p:nvSpPr>
          <p:cNvPr id="4" name="Shape 2"/>
          <p:cNvSpPr/>
          <p:nvPr/>
        </p:nvSpPr>
        <p:spPr>
          <a:xfrm>
            <a:off x="3301960" y="4196953"/>
            <a:ext cx="30480" cy="680442"/>
          </a:xfrm>
          <a:prstGeom prst="roundRect">
            <a:avLst>
              <a:gd name="adj" fmla="val 312558"/>
            </a:avLst>
          </a:prstGeom>
          <a:solidFill>
            <a:srgbClr val="C0C1D7"/>
          </a:solidFill>
          <a:ln/>
        </p:spPr>
      </p:sp>
      <p:sp>
        <p:nvSpPr>
          <p:cNvPr id="5" name="Shape 3"/>
          <p:cNvSpPr/>
          <p:nvPr/>
        </p:nvSpPr>
        <p:spPr>
          <a:xfrm>
            <a:off x="3062049" y="4622244"/>
            <a:ext cx="510302" cy="510302"/>
          </a:xfrm>
          <a:prstGeom prst="roundRect">
            <a:avLst>
              <a:gd name="adj" fmla="val 18669"/>
            </a:avLst>
          </a:prstGeom>
          <a:solidFill>
            <a:srgbClr val="DADBF1"/>
          </a:solidFill>
          <a:ln w="7620">
            <a:solidFill>
              <a:srgbClr val="C0C1D7"/>
            </a:solidFill>
            <a:prstDash val="solid"/>
          </a:ln>
        </p:spPr>
      </p:sp>
      <p:sp>
        <p:nvSpPr>
          <p:cNvPr id="6" name="Text 4"/>
          <p:cNvSpPr/>
          <p:nvPr/>
        </p:nvSpPr>
        <p:spPr>
          <a:xfrm>
            <a:off x="3147120" y="4664750"/>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1</a:t>
            </a:r>
            <a:endParaRPr lang="en-US" sz="2650" dirty="0"/>
          </a:p>
        </p:txBody>
      </p:sp>
      <p:sp>
        <p:nvSpPr>
          <p:cNvPr id="7" name="Text 5"/>
          <p:cNvSpPr/>
          <p:nvPr/>
        </p:nvSpPr>
        <p:spPr>
          <a:xfrm>
            <a:off x="1899642" y="2391013"/>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Inter Bold" pitchFamily="34" charset="0"/>
                <a:ea typeface="Inter Bold" pitchFamily="34" charset="-122"/>
                <a:cs typeface="Inter Bold" pitchFamily="34" charset="-120"/>
              </a:rPr>
              <a:t>Nâng cấp SQLite</a:t>
            </a:r>
            <a:endParaRPr lang="en-US" sz="2200" dirty="0"/>
          </a:p>
        </p:txBody>
      </p:sp>
      <p:sp>
        <p:nvSpPr>
          <p:cNvPr id="8" name="Text 6"/>
          <p:cNvSpPr/>
          <p:nvPr/>
        </p:nvSpPr>
        <p:spPr>
          <a:xfrm>
            <a:off x="1020604" y="2881432"/>
            <a:ext cx="4593312" cy="725805"/>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Inter" pitchFamily="34" charset="0"/>
                <a:ea typeface="Inter" pitchFamily="34" charset="-122"/>
                <a:cs typeface="Inter" pitchFamily="34" charset="-120"/>
              </a:rPr>
              <a:t>Khi thẻ vượt 10.000, chuyển từ JSON sang SQLite để tối ưu tốc độ truy vấn.</a:t>
            </a:r>
            <a:endParaRPr lang="en-US" sz="1750" dirty="0"/>
          </a:p>
        </p:txBody>
      </p:sp>
      <p:sp>
        <p:nvSpPr>
          <p:cNvPr id="9" name="Shape 7"/>
          <p:cNvSpPr/>
          <p:nvPr/>
        </p:nvSpPr>
        <p:spPr>
          <a:xfrm>
            <a:off x="5967293" y="4877395"/>
            <a:ext cx="30480" cy="680442"/>
          </a:xfrm>
          <a:prstGeom prst="roundRect">
            <a:avLst>
              <a:gd name="adj" fmla="val 312558"/>
            </a:avLst>
          </a:prstGeom>
          <a:solidFill>
            <a:srgbClr val="C0C1D7"/>
          </a:solidFill>
          <a:ln/>
        </p:spPr>
      </p:sp>
      <p:sp>
        <p:nvSpPr>
          <p:cNvPr id="10" name="Shape 8"/>
          <p:cNvSpPr/>
          <p:nvPr/>
        </p:nvSpPr>
        <p:spPr>
          <a:xfrm>
            <a:off x="5727382" y="4622244"/>
            <a:ext cx="510302" cy="510302"/>
          </a:xfrm>
          <a:prstGeom prst="roundRect">
            <a:avLst>
              <a:gd name="adj" fmla="val 18669"/>
            </a:avLst>
          </a:prstGeom>
          <a:solidFill>
            <a:srgbClr val="DADBF1"/>
          </a:solidFill>
          <a:ln w="7620">
            <a:solidFill>
              <a:srgbClr val="C0C1D7"/>
            </a:solidFill>
            <a:prstDash val="solid"/>
          </a:ln>
        </p:spPr>
      </p:sp>
      <p:sp>
        <p:nvSpPr>
          <p:cNvPr id="11" name="Text 9"/>
          <p:cNvSpPr/>
          <p:nvPr/>
        </p:nvSpPr>
        <p:spPr>
          <a:xfrm>
            <a:off x="5812453" y="4664750"/>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2</a:t>
            </a:r>
            <a:endParaRPr lang="en-US" sz="2650" dirty="0"/>
          </a:p>
        </p:txBody>
      </p:sp>
      <p:sp>
        <p:nvSpPr>
          <p:cNvPr id="12" name="Text 10"/>
          <p:cNvSpPr/>
          <p:nvPr/>
        </p:nvSpPr>
        <p:spPr>
          <a:xfrm>
            <a:off x="4564856" y="5784652"/>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Inter Bold" pitchFamily="34" charset="0"/>
                <a:ea typeface="Inter Bold" pitchFamily="34" charset="-122"/>
                <a:cs typeface="Inter Bold" pitchFamily="34" charset="-120"/>
              </a:rPr>
              <a:t>Multimedia</a:t>
            </a:r>
            <a:endParaRPr lang="en-US" sz="2200" dirty="0"/>
          </a:p>
        </p:txBody>
      </p:sp>
      <p:sp>
        <p:nvSpPr>
          <p:cNvPr id="13" name="Text 11"/>
          <p:cNvSpPr/>
          <p:nvPr/>
        </p:nvSpPr>
        <p:spPr>
          <a:xfrm>
            <a:off x="3685818" y="6275070"/>
            <a:ext cx="4593431" cy="725805"/>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Inter" pitchFamily="34" charset="0"/>
                <a:ea typeface="Inter" pitchFamily="34" charset="-122"/>
                <a:cs typeface="Inter" pitchFamily="34" charset="-120"/>
              </a:rPr>
              <a:t>Chèn hình ảnh &amp; âm thanh vào thẻ học theo chuẩn lưu đường dẫn HTML trong DB.</a:t>
            </a:r>
            <a:endParaRPr lang="en-US" sz="1750" dirty="0"/>
          </a:p>
        </p:txBody>
      </p:sp>
      <p:sp>
        <p:nvSpPr>
          <p:cNvPr id="14" name="Shape 12"/>
          <p:cNvSpPr/>
          <p:nvPr/>
        </p:nvSpPr>
        <p:spPr>
          <a:xfrm>
            <a:off x="8632508" y="4196953"/>
            <a:ext cx="30480" cy="680442"/>
          </a:xfrm>
          <a:prstGeom prst="roundRect">
            <a:avLst>
              <a:gd name="adj" fmla="val 312558"/>
            </a:avLst>
          </a:prstGeom>
          <a:solidFill>
            <a:srgbClr val="C0C1D7"/>
          </a:solidFill>
          <a:ln/>
        </p:spPr>
      </p:sp>
      <p:sp>
        <p:nvSpPr>
          <p:cNvPr id="15" name="Shape 13"/>
          <p:cNvSpPr/>
          <p:nvPr/>
        </p:nvSpPr>
        <p:spPr>
          <a:xfrm>
            <a:off x="8392597" y="4622244"/>
            <a:ext cx="510302" cy="510302"/>
          </a:xfrm>
          <a:prstGeom prst="roundRect">
            <a:avLst>
              <a:gd name="adj" fmla="val 18669"/>
            </a:avLst>
          </a:prstGeom>
          <a:solidFill>
            <a:srgbClr val="DADBF1"/>
          </a:solidFill>
          <a:ln w="7620">
            <a:solidFill>
              <a:srgbClr val="C0C1D7"/>
            </a:solidFill>
            <a:prstDash val="solid"/>
          </a:ln>
        </p:spPr>
      </p:sp>
      <p:sp>
        <p:nvSpPr>
          <p:cNvPr id="16" name="Text 14"/>
          <p:cNvSpPr/>
          <p:nvPr/>
        </p:nvSpPr>
        <p:spPr>
          <a:xfrm>
            <a:off x="8477667" y="4664750"/>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3</a:t>
            </a:r>
            <a:endParaRPr lang="en-US" sz="2650" dirty="0"/>
          </a:p>
        </p:txBody>
      </p:sp>
      <p:sp>
        <p:nvSpPr>
          <p:cNvPr id="17" name="Text 15"/>
          <p:cNvSpPr/>
          <p:nvPr/>
        </p:nvSpPr>
        <p:spPr>
          <a:xfrm>
            <a:off x="7230070" y="2391013"/>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Inter Bold" pitchFamily="34" charset="0"/>
                <a:ea typeface="Inter Bold" pitchFamily="34" charset="-122"/>
                <a:cs typeface="Inter Bold" pitchFamily="34" charset="-120"/>
              </a:rPr>
              <a:t>Minigame &amp; Canvas</a:t>
            </a:r>
            <a:endParaRPr lang="en-US" sz="2200" dirty="0"/>
          </a:p>
        </p:txBody>
      </p:sp>
      <p:sp>
        <p:nvSpPr>
          <p:cNvPr id="18" name="Text 16"/>
          <p:cNvSpPr/>
          <p:nvPr/>
        </p:nvSpPr>
        <p:spPr>
          <a:xfrm>
            <a:off x="6351032" y="2881432"/>
            <a:ext cx="4593431" cy="1088708"/>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Inter" pitchFamily="34" charset="0"/>
                <a:ea typeface="Inter" pitchFamily="34" charset="-122"/>
                <a:cs typeface="Inter" pitchFamily="34" charset="-120"/>
              </a:rPr>
              <a:t>Trắc nghiệm + bảng vẽ Kanji bằng QPainter, gửi ảnh qua API nhận diện nét chữ.</a:t>
            </a:r>
            <a:endParaRPr lang="en-US" sz="1750" dirty="0"/>
          </a:p>
        </p:txBody>
      </p:sp>
      <p:sp>
        <p:nvSpPr>
          <p:cNvPr id="19" name="Shape 17"/>
          <p:cNvSpPr/>
          <p:nvPr/>
        </p:nvSpPr>
        <p:spPr>
          <a:xfrm>
            <a:off x="11297841" y="4877395"/>
            <a:ext cx="30480" cy="680442"/>
          </a:xfrm>
          <a:prstGeom prst="roundRect">
            <a:avLst>
              <a:gd name="adj" fmla="val 312558"/>
            </a:avLst>
          </a:prstGeom>
          <a:solidFill>
            <a:srgbClr val="C0C1D7"/>
          </a:solidFill>
          <a:ln/>
        </p:spPr>
      </p:sp>
      <p:sp>
        <p:nvSpPr>
          <p:cNvPr id="20" name="Shape 18"/>
          <p:cNvSpPr/>
          <p:nvPr/>
        </p:nvSpPr>
        <p:spPr>
          <a:xfrm>
            <a:off x="11057930" y="4622244"/>
            <a:ext cx="510302" cy="510302"/>
          </a:xfrm>
          <a:prstGeom prst="roundRect">
            <a:avLst>
              <a:gd name="adj" fmla="val 18669"/>
            </a:avLst>
          </a:prstGeom>
          <a:solidFill>
            <a:srgbClr val="DADBF1"/>
          </a:solidFill>
          <a:ln w="7620">
            <a:solidFill>
              <a:srgbClr val="C0C1D7"/>
            </a:solidFill>
            <a:prstDash val="solid"/>
          </a:ln>
        </p:spPr>
      </p:sp>
      <p:sp>
        <p:nvSpPr>
          <p:cNvPr id="21" name="Text 19"/>
          <p:cNvSpPr/>
          <p:nvPr/>
        </p:nvSpPr>
        <p:spPr>
          <a:xfrm>
            <a:off x="11143000" y="4664750"/>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4</a:t>
            </a:r>
            <a:endParaRPr lang="en-US" sz="2650" dirty="0"/>
          </a:p>
        </p:txBody>
      </p:sp>
      <p:sp>
        <p:nvSpPr>
          <p:cNvPr id="22" name="Text 20"/>
          <p:cNvSpPr/>
          <p:nvPr/>
        </p:nvSpPr>
        <p:spPr>
          <a:xfrm>
            <a:off x="9895403" y="5784652"/>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Inter Bold" pitchFamily="34" charset="0"/>
                <a:ea typeface="Inter Bold" pitchFamily="34" charset="-122"/>
                <a:cs typeface="Inter Bold" pitchFamily="34" charset="-120"/>
              </a:rPr>
              <a:t>Cloud Sync</a:t>
            </a:r>
            <a:endParaRPr lang="en-US" sz="2200" dirty="0"/>
          </a:p>
        </p:txBody>
      </p:sp>
      <p:sp>
        <p:nvSpPr>
          <p:cNvPr id="23" name="Text 21"/>
          <p:cNvSpPr/>
          <p:nvPr/>
        </p:nvSpPr>
        <p:spPr>
          <a:xfrm>
            <a:off x="9016365" y="6275070"/>
            <a:ext cx="4593431" cy="725805"/>
          </a:xfrm>
          <a:prstGeom prst="rect">
            <a:avLst/>
          </a:prstGeom>
          <a:noFill/>
          <a:ln/>
        </p:spPr>
        <p:txBody>
          <a:bodyPr wrap="square" lIns="0" tIns="0" rIns="0" bIns="0" rtlCol="0" anchor="t"/>
          <a:lstStyle/>
          <a:p>
            <a:pPr marL="0" indent="0" algn="ctr">
              <a:lnSpc>
                <a:spcPts val="2850"/>
              </a:lnSpc>
              <a:buNone/>
            </a:pPr>
            <a:r>
              <a:rPr lang="en-US" sz="1750" dirty="0">
                <a:solidFill>
                  <a:srgbClr val="272525"/>
                </a:solidFill>
                <a:latin typeface="Inter" pitchFamily="34" charset="0"/>
                <a:ea typeface="Inter" pitchFamily="34" charset="-122"/>
                <a:cs typeface="Inter" pitchFamily="34" charset="-120"/>
              </a:rPr>
              <a:t>Đồng bộ dữ liệu lên máy chủ — học liền mạch trên nhiều thiết bị.</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E5FBC15-3FA1-298D-DB2D-11D8D1E1B384}"/>
              </a:ext>
            </a:extLst>
          </p:cNvPr>
          <p:cNvSpPr/>
          <p:nvPr/>
        </p:nvSpPr>
        <p:spPr>
          <a:xfrm>
            <a:off x="-431516" y="-400692"/>
            <a:ext cx="15354015" cy="87572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ext 0"/>
          <p:cNvSpPr/>
          <p:nvPr/>
        </p:nvSpPr>
        <p:spPr>
          <a:xfrm>
            <a:off x="793790" y="238482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Bài Học Rút Ra</a:t>
            </a:r>
            <a:endParaRPr lang="en-US" sz="4450" dirty="0"/>
          </a:p>
        </p:txBody>
      </p:sp>
      <p:sp>
        <p:nvSpPr>
          <p:cNvPr id="3" name="Shape 1"/>
          <p:cNvSpPr/>
          <p:nvPr/>
        </p:nvSpPr>
        <p:spPr>
          <a:xfrm>
            <a:off x="793790" y="3433763"/>
            <a:ext cx="4196358" cy="2410897"/>
          </a:xfrm>
          <a:prstGeom prst="roundRect">
            <a:avLst>
              <a:gd name="adj" fmla="val 3952"/>
            </a:avLst>
          </a:prstGeom>
          <a:solidFill>
            <a:srgbClr val="DADBF1"/>
          </a:solidFill>
          <a:ln w="7620">
            <a:solidFill>
              <a:srgbClr val="C0C1D7"/>
            </a:solidFill>
            <a:prstDash val="solid"/>
          </a:ln>
        </p:spPr>
      </p:sp>
      <p:sp>
        <p:nvSpPr>
          <p:cNvPr id="4" name="Text 2"/>
          <p:cNvSpPr/>
          <p:nvPr/>
        </p:nvSpPr>
        <p:spPr>
          <a:xfrm>
            <a:off x="1028224" y="366819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OOP trong thực tế</a:t>
            </a:r>
            <a:endParaRPr lang="en-US" sz="2200" dirty="0"/>
          </a:p>
        </p:txBody>
      </p:sp>
      <p:sp>
        <p:nvSpPr>
          <p:cNvPr id="5" name="Text 3"/>
          <p:cNvSpPr/>
          <p:nvPr/>
        </p:nvSpPr>
        <p:spPr>
          <a:xfrm>
            <a:off x="1028224" y="4158615"/>
            <a:ext cx="3727490" cy="110394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Thấu hiểu </a:t>
            </a:r>
            <a:r>
              <a:rPr lang="en-US" sz="1750" dirty="0">
                <a:solidFill>
                  <a:srgbClr val="272525"/>
                </a:solidFill>
                <a:highlight>
                  <a:srgbClr val="F2F2F2"/>
                </a:highlight>
                <a:latin typeface="Consolas" pitchFamily="34" charset="0"/>
                <a:ea typeface="Consolas" pitchFamily="34" charset="-122"/>
                <a:cs typeface="Consolas" pitchFamily="34" charset="-120"/>
              </a:rPr>
              <a:t>self</a:t>
            </a:r>
            <a:r>
              <a:rPr lang="en-US" sz="1750" dirty="0">
                <a:solidFill>
                  <a:srgbClr val="272525"/>
                </a:solidFill>
                <a:latin typeface="Inter" pitchFamily="34" charset="0"/>
                <a:ea typeface="Inter" pitchFamily="34" charset="-122"/>
                <a:cs typeface="Inter" pitchFamily="34" charset="-120"/>
              </a:rPr>
              <a:t>, </a:t>
            </a:r>
            <a:r>
              <a:rPr lang="en-US" sz="1750" dirty="0">
                <a:solidFill>
                  <a:srgbClr val="272525"/>
                </a:solidFill>
                <a:highlight>
                  <a:srgbClr val="F2F2F2"/>
                </a:highlight>
                <a:latin typeface="Consolas" pitchFamily="34" charset="0"/>
                <a:ea typeface="Consolas" pitchFamily="34" charset="-122"/>
                <a:cs typeface="Consolas" pitchFamily="34" charset="-120"/>
              </a:rPr>
              <a:t>__init__</a:t>
            </a:r>
            <a:r>
              <a:rPr lang="en-US" sz="1750" dirty="0">
                <a:solidFill>
                  <a:srgbClr val="272525"/>
                </a:solidFill>
                <a:latin typeface="Inter" pitchFamily="34" charset="0"/>
                <a:ea typeface="Inter" pitchFamily="34" charset="-122"/>
                <a:cs typeface="Inter" pitchFamily="34" charset="-120"/>
              </a:rPr>
              <a:t>, kế thừa </a:t>
            </a:r>
            <a:r>
              <a:rPr lang="en-US" sz="1750" dirty="0">
                <a:solidFill>
                  <a:srgbClr val="272525"/>
                </a:solidFill>
                <a:highlight>
                  <a:srgbClr val="F2F2F2"/>
                </a:highlight>
                <a:latin typeface="Consolas" pitchFamily="34" charset="0"/>
                <a:ea typeface="Consolas" pitchFamily="34" charset="-122"/>
                <a:cs typeface="Consolas" pitchFamily="34" charset="-120"/>
              </a:rPr>
              <a:t>super()</a:t>
            </a:r>
            <a:r>
              <a:rPr lang="en-US" sz="1750" dirty="0">
                <a:solidFill>
                  <a:srgbClr val="272525"/>
                </a:solidFill>
                <a:latin typeface="Inter" pitchFamily="34" charset="0"/>
                <a:ea typeface="Inter" pitchFamily="34" charset="-122"/>
                <a:cs typeface="Inter" pitchFamily="34" charset="-120"/>
              </a:rPr>
              <a:t> và phương thức tĩnh qua từng lớp DAO.</a:t>
            </a:r>
            <a:endParaRPr lang="en-US" sz="1750" dirty="0"/>
          </a:p>
        </p:txBody>
      </p:sp>
      <p:sp>
        <p:nvSpPr>
          <p:cNvPr id="6" name="Shape 4"/>
          <p:cNvSpPr/>
          <p:nvPr/>
        </p:nvSpPr>
        <p:spPr>
          <a:xfrm>
            <a:off x="5216962" y="3433763"/>
            <a:ext cx="4196358" cy="2410897"/>
          </a:xfrm>
          <a:prstGeom prst="roundRect">
            <a:avLst>
              <a:gd name="adj" fmla="val 3952"/>
            </a:avLst>
          </a:prstGeom>
          <a:solidFill>
            <a:srgbClr val="DADBF1"/>
          </a:solidFill>
          <a:ln w="7620">
            <a:solidFill>
              <a:srgbClr val="C0C1D7"/>
            </a:solidFill>
            <a:prstDash val="solid"/>
          </a:ln>
        </p:spPr>
      </p:sp>
      <p:sp>
        <p:nvSpPr>
          <p:cNvPr id="7" name="Text 5"/>
          <p:cNvSpPr/>
          <p:nvPr/>
        </p:nvSpPr>
        <p:spPr>
          <a:xfrm>
            <a:off x="5451396" y="366819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Data Flow toàn trình</a:t>
            </a:r>
            <a:endParaRPr lang="en-US" sz="2200" dirty="0"/>
          </a:p>
        </p:txBody>
      </p:sp>
      <p:sp>
        <p:nvSpPr>
          <p:cNvPr id="8" name="Text 6"/>
          <p:cNvSpPr/>
          <p:nvPr/>
        </p:nvSpPr>
        <p:spPr>
          <a:xfrm>
            <a:off x="5451396" y="4158615"/>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Nắm vững luồng: </a:t>
            </a:r>
            <a:r>
              <a:rPr lang="en-US" sz="1750" b="1" dirty="0">
                <a:solidFill>
                  <a:srgbClr val="272525"/>
                </a:solidFill>
                <a:latin typeface="Inter" pitchFamily="34" charset="0"/>
                <a:ea typeface="Inter" pitchFamily="34" charset="-122"/>
                <a:cs typeface="Inter" pitchFamily="34" charset="-120"/>
              </a:rPr>
              <a:t>GUI → Signals → Controller → Algorithm → File I/O</a:t>
            </a:r>
            <a:r>
              <a:rPr lang="en-US" sz="1750" dirty="0">
                <a:solidFill>
                  <a:srgbClr val="272525"/>
                </a:solidFill>
                <a:latin typeface="Inter" pitchFamily="34" charset="0"/>
                <a:ea typeface="Inter" pitchFamily="34" charset="-122"/>
                <a:cs typeface="Inter" pitchFamily="34" charset="-120"/>
              </a:rPr>
              <a:t> xuyên suốt toàn bộ ứng dụng.</a:t>
            </a:r>
            <a:endParaRPr lang="en-US" sz="1750" dirty="0"/>
          </a:p>
        </p:txBody>
      </p:sp>
      <p:sp>
        <p:nvSpPr>
          <p:cNvPr id="9" name="Shape 7"/>
          <p:cNvSpPr/>
          <p:nvPr/>
        </p:nvSpPr>
        <p:spPr>
          <a:xfrm>
            <a:off x="9640133" y="3433763"/>
            <a:ext cx="4196358" cy="2410897"/>
          </a:xfrm>
          <a:prstGeom prst="roundRect">
            <a:avLst>
              <a:gd name="adj" fmla="val 3952"/>
            </a:avLst>
          </a:prstGeom>
          <a:solidFill>
            <a:srgbClr val="DADBF1"/>
          </a:solidFill>
          <a:ln w="7620">
            <a:solidFill>
              <a:srgbClr val="C0C1D7"/>
            </a:solidFill>
            <a:prstDash val="solid"/>
          </a:ln>
        </p:spPr>
      </p:sp>
      <p:sp>
        <p:nvSpPr>
          <p:cNvPr id="10" name="Text 8"/>
          <p:cNvSpPr/>
          <p:nvPr/>
        </p:nvSpPr>
        <p:spPr>
          <a:xfrm>
            <a:off x="9874568" y="366819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Giá trị người dùng</a:t>
            </a:r>
            <a:endParaRPr lang="en-US" sz="2200" dirty="0"/>
          </a:p>
        </p:txBody>
      </p:sp>
      <p:sp>
        <p:nvSpPr>
          <p:cNvPr id="11" name="Text 9"/>
          <p:cNvSpPr/>
          <p:nvPr/>
        </p:nvSpPr>
        <p:spPr>
          <a:xfrm>
            <a:off x="9874568" y="4158615"/>
            <a:ext cx="372749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Hiểu tầm quan trọng của UX/UI và Spaced Repetition trong việc tạo ra phần mềm thực sự có ích cho con người.</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1177</Words>
  <Application>Microsoft Office PowerPoint</Application>
  <PresentationFormat>Custom</PresentationFormat>
  <Paragraphs>109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Inter Bold</vt:lpstr>
      <vt:lpstr>Inter</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Bui Hung Son D24VN01</cp:lastModifiedBy>
  <cp:revision>2</cp:revision>
  <dcterms:created xsi:type="dcterms:W3CDTF">2026-04-23T01:25:15Z</dcterms:created>
  <dcterms:modified xsi:type="dcterms:W3CDTF">2026-04-23T02:04:08Z</dcterms:modified>
</cp:coreProperties>
</file>